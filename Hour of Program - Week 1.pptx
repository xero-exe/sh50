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Roboto Mono"/>
      <p:regular r:id="rId43"/>
      <p:bold r:id="rId44"/>
      <p:italic r:id="rId45"/>
      <p:boldItalic r:id="rId46"/>
    </p:embeddedFont>
    <p:embeddedFont>
      <p:font typeface="JetBrains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A71252-E9B2-4A53-8B6C-92C0963F4199}">
  <a:tblStyle styleId="{A1A71252-E9B2-4A53-8B6C-92C0963F419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RobotoMono-bold.fntdata"/><Relationship Id="rId43" Type="http://schemas.openxmlformats.org/officeDocument/2006/relationships/font" Target="fonts/RobotoMono-regular.fntdata"/><Relationship Id="rId46" Type="http://schemas.openxmlformats.org/officeDocument/2006/relationships/font" Target="fonts/RobotoMono-boldItalic.fntdata"/><Relationship Id="rId45" Type="http://schemas.openxmlformats.org/officeDocument/2006/relationships/font" Target="fonts/RobotoMono-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JetBrainsMono-bold.fntdata"/><Relationship Id="rId47" Type="http://schemas.openxmlformats.org/officeDocument/2006/relationships/font" Target="fonts/JetBrainsMono-regular.fntdata"/><Relationship Id="rId49" Type="http://schemas.openxmlformats.org/officeDocument/2006/relationships/font" Target="fonts/JetBrainsMon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0" Type="http://schemas.openxmlformats.org/officeDocument/2006/relationships/font" Target="fonts/JetBrainsMon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cs50.ai" TargetMode="External"/><Relationship Id="rId3" Type="http://schemas.openxmlformats.org/officeDocument/2006/relationships/hyperlink" Target="http://cs50.ai"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50.harvard.edu/x/"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da8b3665367c4f9_2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da8b3665367c4f9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 to the hour of program this is a couse by harvard. Usually called cs50</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da8b3665367c4f9_2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da8b3665367c4f9_2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JetBrains Mono"/>
                <a:ea typeface="JetBrains Mono"/>
                <a:cs typeface="JetBrains Mono"/>
                <a:sym typeface="JetBrains Mono"/>
              </a:rPr>
              <a:t>I am in 7th grade and i have been coding scene i was in 4th grade and i love it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200">
                <a:solidFill>
                  <a:schemeClr val="dk1"/>
                </a:solidFill>
                <a:latin typeface="JetBrains Mono"/>
                <a:ea typeface="JetBrains Mono"/>
                <a:cs typeface="JetBrains Mono"/>
                <a:sym typeface="JetBrains Mono"/>
              </a:rPr>
              <a:t>My fav list</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200">
                <a:solidFill>
                  <a:schemeClr val="dk1"/>
                </a:solidFill>
                <a:latin typeface="JetBrains Mono"/>
                <a:ea typeface="JetBrains Mono"/>
                <a:cs typeface="JetBrains Mono"/>
                <a:sym typeface="JetBrains Mono"/>
              </a:rPr>
              <a:t>Food: pizza                                                                           language:python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200">
                <a:solidFill>
                  <a:schemeClr val="dk1"/>
                </a:solidFill>
                <a:latin typeface="JetBrains Mono"/>
                <a:ea typeface="JetBrains Mono"/>
                <a:cs typeface="JetBrains Mono"/>
                <a:sym typeface="JetBrains Mono"/>
              </a:rPr>
              <a:t>Game: fortnite                                                                               OS: omarchy Sport: tennis                                                                                           IDE: zed Pet: parrots                                                                        Course:boot.dev Font: jetbrains mono nerd font theme:catppuccin</a:t>
            </a:r>
            <a:br>
              <a:rPr lang="en" sz="1200">
                <a:solidFill>
                  <a:schemeClr val="dk1"/>
                </a:solidFill>
                <a:latin typeface="JetBrains Mono"/>
                <a:ea typeface="JetBrains Mono"/>
                <a:cs typeface="JetBrains Mono"/>
                <a:sym typeface="JetBrains Mono"/>
              </a:rPr>
            </a:br>
            <a:br>
              <a:rPr lang="en" sz="1200">
                <a:solidFill>
                  <a:schemeClr val="dk1"/>
                </a:solidFill>
                <a:latin typeface="JetBrains Mono"/>
                <a:ea typeface="JetBrains Mono"/>
                <a:cs typeface="JetBrains Mono"/>
                <a:sym typeface="JetBrains Mono"/>
              </a:rPr>
            </a:b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JetBrains Mono"/>
              <a:ea typeface="JetBrains Mono"/>
              <a:cs typeface="JetBrains Mono"/>
              <a:sym typeface="JetBrains Mon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da8b3665367c4f9_2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da8b3665367c4f9_2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about you guys?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da8b3665367c4f9_2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da8b3665367c4f9_2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JetBrains Mono"/>
                <a:ea typeface="JetBrains Mono"/>
                <a:cs typeface="JetBrains Mono"/>
                <a:sym typeface="JetBrains Mono"/>
              </a:rPr>
              <a:t>AI will </a:t>
            </a:r>
            <a:r>
              <a:rPr b="1" lang="en" sz="1200" u="sng">
                <a:solidFill>
                  <a:schemeClr val="dk1"/>
                </a:solidFill>
                <a:latin typeface="JetBrains Mono"/>
                <a:ea typeface="JetBrains Mono"/>
                <a:cs typeface="JetBrains Mono"/>
                <a:sym typeface="JetBrains Mono"/>
              </a:rPr>
              <a:t>NOT</a:t>
            </a:r>
            <a:r>
              <a:rPr lang="en" sz="1200">
                <a:solidFill>
                  <a:schemeClr val="dk1"/>
                </a:solidFill>
                <a:latin typeface="JetBrains Mono"/>
                <a:ea typeface="JetBrains Mono"/>
                <a:cs typeface="JetBrains Mono"/>
                <a:sym typeface="JetBrains Mono"/>
              </a:rPr>
              <a:t> be allowed at all if you are caught using AI for your code you will have to leave AND your project will not be accepted.</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200">
                <a:solidFill>
                  <a:schemeClr val="dk1"/>
                </a:solidFill>
                <a:latin typeface="JetBrains Mono"/>
                <a:ea typeface="JetBrains Mono"/>
                <a:cs typeface="JetBrains Mono"/>
                <a:sym typeface="JetBrains Mono"/>
              </a:rPr>
              <a:t>If you have a question ask US or look at stack overflow or ask duck AI at </a:t>
            </a:r>
            <a:r>
              <a:rPr lang="en" sz="1200" u="sng">
                <a:solidFill>
                  <a:schemeClr val="dk1"/>
                </a:solidFill>
                <a:latin typeface="JetBrains Mono"/>
                <a:ea typeface="JetBrains Mono"/>
                <a:cs typeface="JetBrains Mono"/>
                <a:sym typeface="JetBrains Mono"/>
                <a:hlinkClick r:id="rId2">
                  <a:extLst>
                    <a:ext uri="{A12FA001-AC4F-418D-AE19-62706E023703}">
                      <ahyp:hlinkClr val="tx"/>
                    </a:ext>
                  </a:extLst>
                </a:hlinkClick>
              </a:rPr>
              <a:t>cs50.ai</a:t>
            </a:r>
            <a:r>
              <a:rPr lang="en" sz="1200">
                <a:solidFill>
                  <a:schemeClr val="dk1"/>
                </a:solidFill>
                <a:latin typeface="JetBrains Mono"/>
                <a:ea typeface="JetBrains Mono"/>
                <a:cs typeface="JetBrains Mono"/>
                <a:sym typeface="JetBrains Mono"/>
              </a:rPr>
              <a:t>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200" u="sng">
                <a:solidFill>
                  <a:schemeClr val="hlink"/>
                </a:solidFill>
                <a:latin typeface="JetBrains Mono"/>
                <a:ea typeface="JetBrains Mono"/>
                <a:cs typeface="JetBrains Mono"/>
                <a:sym typeface="JetBrains Mono"/>
                <a:hlinkClick r:id="rId3"/>
              </a:rPr>
              <a:t>cs50.ai</a:t>
            </a:r>
            <a:r>
              <a:rPr lang="en" sz="1200">
                <a:solidFill>
                  <a:schemeClr val="dk1"/>
                </a:solidFill>
                <a:latin typeface="JetBrains Mono"/>
                <a:ea typeface="JetBrains Mono"/>
                <a:cs typeface="JetBrains Mono"/>
                <a:sym typeface="JetBrains Mono"/>
              </a:rPr>
              <a:t> is a platform that does not give you the answers when you ask</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da8b3665367c4f9_2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da8b3665367c4f9_2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JetBrains Mono"/>
                <a:ea typeface="JetBrains Mono"/>
                <a:cs typeface="JetBrains Mono"/>
                <a:sym typeface="JetBrains Mono"/>
              </a:rPr>
              <a:t>If you want more practice please go to </a:t>
            </a:r>
            <a:r>
              <a:rPr lang="en" sz="1200" u="sng">
                <a:solidFill>
                  <a:schemeClr val="dk1"/>
                </a:solidFill>
                <a:latin typeface="JetBrains Mono"/>
                <a:ea typeface="JetBrains Mono"/>
                <a:cs typeface="JetBrains Mono"/>
                <a:sym typeface="JetBrains Mono"/>
                <a:hlinkClick r:id="rId2">
                  <a:extLst>
                    <a:ext uri="{A12FA001-AC4F-418D-AE19-62706E023703}">
                      <ahyp:hlinkClr val="tx"/>
                    </a:ext>
                  </a:extLst>
                </a:hlinkClick>
              </a:rPr>
              <a:t>https://cs50.harvard.edu/x/</a:t>
            </a:r>
            <a:r>
              <a:rPr lang="en" sz="1200">
                <a:solidFill>
                  <a:schemeClr val="dk1"/>
                </a:solidFill>
                <a:latin typeface="JetBrains Mono"/>
                <a:ea typeface="JetBrains Mono"/>
                <a:cs typeface="JetBrains Mono"/>
                <a:sym typeface="JetBrains Mono"/>
              </a:rPr>
              <a:t> week 0</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da8b3665367c4f9_2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da8b3665367c4f9_2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JetBrains Mono"/>
                <a:ea typeface="JetBrains Mono"/>
                <a:cs typeface="JetBrains Mono"/>
                <a:sym typeface="JetBrains Mono"/>
              </a:rPr>
              <a:t>Today we will do week 0 of the cs50 courses by harvard. This week you will learn the basics of programing with a program called scratch.</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da8b3665367c4f9_2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hda8b3665367c4f9_2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JetBrains Mono"/>
                <a:ea typeface="JetBrains Mono"/>
                <a:cs typeface="JetBrains Mono"/>
                <a:sym typeface="JetBrains Mono"/>
              </a:rPr>
              <a:t>Computer programming is about taking some input and creating some output - thus solving a problem. What happens in between the input and output, what we could call </a:t>
            </a:r>
            <a:r>
              <a:rPr i="1" lang="en" sz="1200">
                <a:solidFill>
                  <a:schemeClr val="dk1"/>
                </a:solidFill>
                <a:latin typeface="JetBrains Mono"/>
                <a:ea typeface="JetBrains Mono"/>
                <a:cs typeface="JetBrains Mono"/>
                <a:sym typeface="JetBrains Mono"/>
              </a:rPr>
              <a:t>a black box,</a:t>
            </a:r>
            <a:r>
              <a:rPr lang="en" sz="1200">
                <a:solidFill>
                  <a:schemeClr val="dk1"/>
                </a:solidFill>
                <a:latin typeface="JetBrains Mono"/>
                <a:ea typeface="JetBrains Mono"/>
                <a:cs typeface="JetBrains Mono"/>
                <a:sym typeface="JetBrains Mono"/>
              </a:rPr>
              <a:t> is the focus of this course.</a:t>
            </a:r>
            <a:endParaRPr sz="12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JetBrains Mono"/>
                <a:ea typeface="JetBrains Mono"/>
                <a:cs typeface="JetBrains Mono"/>
                <a:sym typeface="JetBrains Mono"/>
              </a:rPr>
              <a:t>For example let’s say that we need to know who is here we can use a system called binary to count everyone</a:t>
            </a:r>
            <a:endParaRPr sz="1200">
              <a:solidFill>
                <a:schemeClr val="dk1"/>
              </a:solidFill>
              <a:latin typeface="JetBrains Mono"/>
              <a:ea typeface="JetBrains Mono"/>
              <a:cs typeface="JetBrains Mono"/>
              <a:sym typeface="JetBrains Mono"/>
            </a:endParaRPr>
          </a:p>
          <a:p>
            <a:pPr indent="0" lvl="0" marL="0" rtl="0" algn="l">
              <a:spcBef>
                <a:spcPts val="1200"/>
              </a:spcBef>
              <a:spcAft>
                <a:spcPts val="0"/>
              </a:spcAft>
              <a:buNone/>
            </a:pPr>
            <a:r>
              <a:t/>
            </a:r>
            <a:endParaRPr sz="1200">
              <a:solidFill>
                <a:schemeClr val="dk1"/>
              </a:solidFill>
              <a:latin typeface="JetBrains Mono"/>
              <a:ea typeface="JetBrains Mono"/>
              <a:cs typeface="JetBrains Mono"/>
              <a:sym typeface="JetBrains Mon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da8b3665367c4f9_2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da8b3665367c4f9_2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what is binary? Binary is how computers count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da8b3665367c4f9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hda8b3665367c4f9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da8b3665367c4f9_2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da8b3665367c4f9_2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da8b3665367c4f9_2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da8b3665367c4f9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da8b3665367c4f9_2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da8b3665367c4f9_2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da8b3665367c4f9_2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hda8b3665367c4f9_2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da8b3665367c4f9_2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da8b3665367c4f9_2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da8b3665367c4f9_2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hda8b3665367c4f9_2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da8b3665367c4f9_2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hda8b3665367c4f9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da8b3665367c4f9_2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da8b3665367c4f9_2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da8b3665367c4f9_2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da8b3665367c4f9_2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da8b3665367c4f9_2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hda8b3665367c4f9_2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da8b3665367c4f9_2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da8b3665367c4f9_2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da8b3665367c4f9_2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da8b3665367c4f9_2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da8b3665367c4f9_2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da8b3665367c4f9_2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da8b3665367c4f9_2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da8b3665367c4f9_2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da8b3665367c4f9_2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da8b3665367c4f9_2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da8b3665367c4f9_2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da8b3665367c4f9_2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da8b3665367c4f9_2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hda8b3665367c4f9_2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da8b3665367c4f9_2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da8b3665367c4f9_2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da8b3665367c4f9_2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hda8b3665367c4f9_2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da8b3665367c4f9_2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hda8b3665367c4f9_2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hda8b3665367c4f9_2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hda8b3665367c4f9_2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da8b3665367c4f9_2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da8b3665367c4f9_2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hda8b3665367c4f9_2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hda8b3665367c4f9_2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da8b3665367c4f9_2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hda8b3665367c4f9_2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da8b3665367c4f9_2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hda8b3665367c4f9_2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da8b3665367c4f9_2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hda8b3665367c4f9_2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cs50.a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cs50.harvard.edu/x/" TargetMode="External"/><Relationship Id="rId4" Type="http://schemas.openxmlformats.org/officeDocument/2006/relationships/hyperlink" Target="https://creativecommons.org/licenses/by-nc-sa/4.0/" TargetMode="External"/><Relationship Id="rId5" Type="http://schemas.openxmlformats.org/officeDocument/2006/relationships/hyperlink" Target="https://cs50.harvard.edu/x/licens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hyperlink" Target="https://scratch.mit.edu/"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www.youtube.com/watch?v=UuIEbpQms8o" TargetMode="External"/><Relationship Id="rId4"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www.youtube.com/watch?v=UuIEbpQms8o" TargetMode="External"/><Relationship Id="rId4"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338700"/>
            <a:ext cx="8520600" cy="446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9300">
                <a:latin typeface="JetBrains Mono"/>
                <a:ea typeface="JetBrains Mono"/>
                <a:cs typeface="JetBrains Mono"/>
                <a:sym typeface="JetBrains Mono"/>
              </a:rPr>
              <a:t>Welcome to Hour of Program</a:t>
            </a:r>
            <a:endParaRPr sz="9300">
              <a:latin typeface="JetBrains Mono"/>
              <a:ea typeface="JetBrains Mono"/>
              <a:cs typeface="JetBrains Mono"/>
              <a:sym typeface="JetBrai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3" name="Shape 103"/>
        <p:cNvGrpSpPr/>
        <p:nvPr/>
      </p:nvGrpSpPr>
      <p:grpSpPr>
        <a:xfrm>
          <a:off x="0" y="0"/>
          <a:ext cx="0" cy="0"/>
          <a:chOff x="0" y="0"/>
          <a:chExt cx="0" cy="0"/>
        </a:xfrm>
      </p:grpSpPr>
      <p:sp>
        <p:nvSpPr>
          <p:cNvPr id="104" name="Google Shape;104;p26"/>
          <p:cNvSpPr txBox="1"/>
          <p:nvPr>
            <p:ph type="ctrTitle"/>
          </p:nvPr>
        </p:nvSpPr>
        <p:spPr>
          <a:xfrm>
            <a:off x="311700" y="0"/>
            <a:ext cx="8520600" cy="142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9300">
                <a:latin typeface="JetBrains Mono"/>
                <a:ea typeface="JetBrains Mono"/>
                <a:cs typeface="JetBrains Mono"/>
                <a:sym typeface="JetBrains Mono"/>
              </a:rPr>
              <a:t>About me</a:t>
            </a:r>
            <a:endParaRPr sz="9300">
              <a:latin typeface="JetBrains Mono"/>
              <a:ea typeface="JetBrains Mono"/>
              <a:cs typeface="JetBrains Mono"/>
              <a:sym typeface="JetBrains Mono"/>
            </a:endParaRPr>
          </a:p>
        </p:txBody>
      </p:sp>
      <p:sp>
        <p:nvSpPr>
          <p:cNvPr id="105" name="Google Shape;105;p26"/>
          <p:cNvSpPr txBox="1"/>
          <p:nvPr/>
        </p:nvSpPr>
        <p:spPr>
          <a:xfrm>
            <a:off x="509825" y="1268875"/>
            <a:ext cx="8134500" cy="37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JetBrains Mono"/>
                <a:ea typeface="JetBrains Mono"/>
                <a:cs typeface="JetBrains Mono"/>
                <a:sym typeface="JetBrains Mono"/>
              </a:rPr>
              <a:t>I am in 7th grade and i have been coding scene i was in 4th grade and i love it </a:t>
            </a:r>
            <a:endParaRPr sz="17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1700">
              <a:solidFill>
                <a:schemeClr val="dk1"/>
              </a:solidFill>
              <a:latin typeface="JetBrains Mono"/>
              <a:ea typeface="JetBrains Mono"/>
              <a:cs typeface="JetBrains Mono"/>
              <a:sym typeface="JetBrains Mono"/>
            </a:endParaRPr>
          </a:p>
          <a:p>
            <a:pPr indent="0" lvl="0" marL="0" rtl="0" algn="ctr">
              <a:spcBef>
                <a:spcPts val="0"/>
              </a:spcBef>
              <a:spcAft>
                <a:spcPts val="0"/>
              </a:spcAft>
              <a:buNone/>
            </a:pPr>
            <a:r>
              <a:rPr lang="en" sz="2600">
                <a:solidFill>
                  <a:schemeClr val="dk1"/>
                </a:solidFill>
                <a:latin typeface="JetBrains Mono"/>
                <a:ea typeface="JetBrains Mono"/>
                <a:cs typeface="JetBrains Mono"/>
                <a:sym typeface="JetBrains Mono"/>
              </a:rPr>
              <a:t>My fav list</a:t>
            </a:r>
            <a:endParaRPr sz="26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600">
                <a:solidFill>
                  <a:schemeClr val="dk1"/>
                </a:solidFill>
                <a:latin typeface="JetBrains Mono"/>
                <a:ea typeface="JetBrains Mono"/>
                <a:cs typeface="JetBrains Mono"/>
                <a:sym typeface="JetBrains Mono"/>
              </a:rPr>
              <a:t>Food: pizza                                                                               language:python                                                                         </a:t>
            </a:r>
            <a:endParaRPr sz="16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600">
                <a:solidFill>
                  <a:schemeClr val="dk1"/>
                </a:solidFill>
                <a:latin typeface="JetBrains Mono"/>
                <a:ea typeface="JetBrains Mono"/>
                <a:cs typeface="JetBrains Mono"/>
                <a:sym typeface="JetBrains Mono"/>
              </a:rPr>
              <a:t>Game: fortnite                                                                                 OS: omarchy</a:t>
            </a:r>
            <a:endParaRPr sz="16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600">
                <a:solidFill>
                  <a:schemeClr val="dk1"/>
                </a:solidFill>
                <a:latin typeface="JetBrains Mono"/>
                <a:ea typeface="JetBrains Mono"/>
                <a:cs typeface="JetBrains Mono"/>
                <a:sym typeface="JetBrains Mono"/>
              </a:rPr>
              <a:t>Sport: tennis                                                                                           IDE: zed</a:t>
            </a:r>
            <a:endParaRPr sz="16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600">
                <a:solidFill>
                  <a:schemeClr val="dk1"/>
                </a:solidFill>
                <a:latin typeface="JetBrains Mono"/>
                <a:ea typeface="JetBrains Mono"/>
                <a:cs typeface="JetBrains Mono"/>
                <a:sym typeface="JetBrains Mono"/>
              </a:rPr>
              <a:t>Pet: parrots                                                                                Course:boot.dev</a:t>
            </a:r>
            <a:endParaRPr sz="16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1600">
                <a:solidFill>
                  <a:schemeClr val="dk1"/>
                </a:solidFill>
                <a:latin typeface="JetBrains Mono"/>
                <a:ea typeface="JetBrains Mono"/>
                <a:cs typeface="JetBrains Mono"/>
                <a:sym typeface="JetBrains Mono"/>
              </a:rPr>
              <a:t>Font: jetbrains mono nerd font                                                theme:catppuccin</a:t>
            </a:r>
            <a:br>
              <a:rPr lang="en" sz="1600">
                <a:solidFill>
                  <a:schemeClr val="dk1"/>
                </a:solidFill>
                <a:latin typeface="JetBrains Mono"/>
                <a:ea typeface="JetBrains Mono"/>
                <a:cs typeface="JetBrains Mono"/>
                <a:sym typeface="JetBrains Mono"/>
              </a:rPr>
            </a:br>
            <a:br>
              <a:rPr lang="en" sz="1600">
                <a:solidFill>
                  <a:schemeClr val="dk1"/>
                </a:solidFill>
                <a:latin typeface="JetBrains Mono"/>
                <a:ea typeface="JetBrains Mono"/>
                <a:cs typeface="JetBrains Mono"/>
                <a:sym typeface="JetBrains Mono"/>
              </a:rPr>
            </a:br>
            <a:endParaRPr sz="1600">
              <a:solidFill>
                <a:schemeClr val="dk1"/>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9" name="Shape 109"/>
        <p:cNvGrpSpPr/>
        <p:nvPr/>
      </p:nvGrpSpPr>
      <p:grpSpPr>
        <a:xfrm>
          <a:off x="0" y="0"/>
          <a:ext cx="0" cy="0"/>
          <a:chOff x="0" y="0"/>
          <a:chExt cx="0" cy="0"/>
        </a:xfrm>
      </p:grpSpPr>
      <p:sp>
        <p:nvSpPr>
          <p:cNvPr id="110" name="Google Shape;110;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JetBrains Mono"/>
                <a:ea typeface="JetBrains Mono"/>
                <a:cs typeface="JetBrains Mono"/>
                <a:sym typeface="JetBrains Mono"/>
              </a:rPr>
              <a:t>What about you?</a:t>
            </a:r>
            <a:endParaRPr>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4" name="Shape 114"/>
        <p:cNvGrpSpPr/>
        <p:nvPr/>
      </p:nvGrpSpPr>
      <p:grpSpPr>
        <a:xfrm>
          <a:off x="0" y="0"/>
          <a:ext cx="0" cy="0"/>
          <a:chOff x="0" y="0"/>
          <a:chExt cx="0" cy="0"/>
        </a:xfrm>
      </p:grpSpPr>
      <p:sp>
        <p:nvSpPr>
          <p:cNvPr id="115" name="Google Shape;115;p28"/>
          <p:cNvSpPr txBox="1"/>
          <p:nvPr>
            <p:ph type="ctrTitle"/>
          </p:nvPr>
        </p:nvSpPr>
        <p:spPr>
          <a:xfrm>
            <a:off x="311700" y="271900"/>
            <a:ext cx="8520600" cy="927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JetBrains Mono"/>
                <a:ea typeface="JetBrains Mono"/>
                <a:cs typeface="JetBrains Mono"/>
                <a:sym typeface="JetBrains Mono"/>
              </a:rPr>
              <a:t>AI</a:t>
            </a:r>
            <a:endParaRPr>
              <a:latin typeface="JetBrains Mono"/>
              <a:ea typeface="JetBrains Mono"/>
              <a:cs typeface="JetBrains Mono"/>
              <a:sym typeface="JetBrains Mono"/>
            </a:endParaRPr>
          </a:p>
        </p:txBody>
      </p:sp>
      <p:sp>
        <p:nvSpPr>
          <p:cNvPr id="116" name="Google Shape;116;p28"/>
          <p:cNvSpPr txBox="1"/>
          <p:nvPr>
            <p:ph idx="1" type="subTitle"/>
          </p:nvPr>
        </p:nvSpPr>
        <p:spPr>
          <a:xfrm>
            <a:off x="311700" y="1519950"/>
            <a:ext cx="8520600" cy="31590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AI will </a:t>
            </a:r>
            <a:r>
              <a:rPr b="1" lang="en" u="sng">
                <a:solidFill>
                  <a:schemeClr val="dk1"/>
                </a:solidFill>
                <a:latin typeface="JetBrains Mono"/>
                <a:ea typeface="JetBrains Mono"/>
                <a:cs typeface="JetBrains Mono"/>
                <a:sym typeface="JetBrains Mono"/>
              </a:rPr>
              <a:t>NOT</a:t>
            </a:r>
            <a:r>
              <a:rPr lang="en">
                <a:solidFill>
                  <a:schemeClr val="dk1"/>
                </a:solidFill>
                <a:latin typeface="JetBrains Mono"/>
                <a:ea typeface="JetBrains Mono"/>
                <a:cs typeface="JetBrains Mono"/>
                <a:sym typeface="JetBrains Mono"/>
              </a:rPr>
              <a:t> be allowed at all if you are caught using AI for your code you will have to leave AND your project will not be accepted.</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If you have a question ask US or look at stack overflow or ask duck AI at </a:t>
            </a:r>
            <a:r>
              <a:rPr lang="en" u="sng">
                <a:solidFill>
                  <a:schemeClr val="hlink"/>
                </a:solidFill>
                <a:latin typeface="JetBrains Mono"/>
                <a:ea typeface="JetBrains Mono"/>
                <a:cs typeface="JetBrains Mono"/>
                <a:sym typeface="JetBrains Mono"/>
                <a:hlinkClick r:id="rId3"/>
              </a:rPr>
              <a:t>cs50.ai</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0" name="Shape 120"/>
        <p:cNvGrpSpPr/>
        <p:nvPr/>
      </p:nvGrpSpPr>
      <p:grpSpPr>
        <a:xfrm>
          <a:off x="0" y="0"/>
          <a:ext cx="0" cy="0"/>
          <a:chOff x="0" y="0"/>
          <a:chExt cx="0" cy="0"/>
        </a:xfrm>
      </p:grpSpPr>
      <p:sp>
        <p:nvSpPr>
          <p:cNvPr id="121" name="Google Shape;121;p29"/>
          <p:cNvSpPr txBox="1"/>
          <p:nvPr>
            <p:ph type="ctrTitle"/>
          </p:nvPr>
        </p:nvSpPr>
        <p:spPr>
          <a:xfrm>
            <a:off x="311700" y="271900"/>
            <a:ext cx="8520600" cy="927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JetBrains Mono"/>
                <a:ea typeface="JetBrains Mono"/>
                <a:cs typeface="JetBrains Mono"/>
                <a:sym typeface="JetBrains Mono"/>
              </a:rPr>
              <a:t>Practice</a:t>
            </a:r>
            <a:endParaRPr>
              <a:latin typeface="JetBrains Mono"/>
              <a:ea typeface="JetBrains Mono"/>
              <a:cs typeface="JetBrains Mono"/>
              <a:sym typeface="JetBrains Mono"/>
            </a:endParaRPr>
          </a:p>
        </p:txBody>
      </p:sp>
      <p:sp>
        <p:nvSpPr>
          <p:cNvPr id="122" name="Google Shape;122;p29"/>
          <p:cNvSpPr txBox="1"/>
          <p:nvPr>
            <p:ph idx="1" type="subTitle"/>
          </p:nvPr>
        </p:nvSpPr>
        <p:spPr>
          <a:xfrm>
            <a:off x="311700" y="1519950"/>
            <a:ext cx="8520600" cy="31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If you want more practice please go to </a:t>
            </a:r>
            <a:r>
              <a:rPr lang="en" u="sng">
                <a:solidFill>
                  <a:schemeClr val="dk1"/>
                </a:solidFill>
                <a:latin typeface="JetBrains Mono"/>
                <a:ea typeface="JetBrains Mono"/>
                <a:cs typeface="JetBrains Mono"/>
                <a:sym typeface="JetBrains Mono"/>
                <a:hlinkClick r:id="rId3">
                  <a:extLst>
                    <a:ext uri="{A12FA001-AC4F-418D-AE19-62706E023703}">
                      <ahyp:hlinkClr val="tx"/>
                    </a:ext>
                  </a:extLst>
                </a:hlinkClick>
              </a:rPr>
              <a:t>https://cs50.harvard.edu/x/</a:t>
            </a:r>
            <a:r>
              <a:rPr lang="en">
                <a:solidFill>
                  <a:schemeClr val="dk1"/>
                </a:solidFill>
                <a:latin typeface="JetBrains Mono"/>
                <a:ea typeface="JetBrains Mono"/>
                <a:cs typeface="JetBrains Mono"/>
                <a:sym typeface="JetBrains Mono"/>
              </a:rPr>
              <a:t> week 0</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9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9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9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900">
                <a:solidFill>
                  <a:schemeClr val="dk1"/>
                </a:solidFill>
                <a:latin typeface="JetBrains Mono"/>
                <a:ea typeface="JetBrains Mono"/>
                <a:cs typeface="JetBrains Mono"/>
                <a:sym typeface="JetBrains Mono"/>
              </a:rPr>
              <a:t>Also for legal reasons i did not make this course. This course falls under the </a:t>
            </a:r>
            <a:r>
              <a:rPr lang="en" sz="900" u="sng">
                <a:solidFill>
                  <a:schemeClr val="dk1"/>
                </a:solidFill>
                <a:latin typeface="JetBrains Mono"/>
                <a:ea typeface="JetBrains Mono"/>
                <a:cs typeface="JetBrains Mono"/>
                <a:sym typeface="JetBrains Mono"/>
                <a:hlinkClick r:id="rId4">
                  <a:extLst>
                    <a:ext uri="{A12FA001-AC4F-418D-AE19-62706E023703}">
                      <ahyp:hlinkClr val="tx"/>
                    </a:ext>
                  </a:extLst>
                </a:hlinkClick>
              </a:rPr>
              <a:t>Attribution-NonCommercial-ShareAlike 4.0 International</a:t>
            </a:r>
            <a:r>
              <a:rPr lang="en" sz="900">
                <a:solidFill>
                  <a:schemeClr val="dk1"/>
                </a:solidFill>
                <a:latin typeface="JetBrains Mono"/>
                <a:ea typeface="JetBrains Mono"/>
                <a:cs typeface="JetBrains Mono"/>
                <a:sym typeface="JetBrains Mono"/>
              </a:rPr>
              <a:t> this means that you can change and share this course with credit </a:t>
            </a:r>
            <a:r>
              <a:rPr lang="en" sz="900" u="sng">
                <a:solidFill>
                  <a:schemeClr val="dk1"/>
                </a:solidFill>
                <a:latin typeface="JetBrains Mono"/>
                <a:ea typeface="JetBrains Mono"/>
                <a:cs typeface="JetBrains Mono"/>
                <a:sym typeface="JetBrains Mono"/>
                <a:hlinkClick r:id="rId5">
                  <a:extLst>
                    <a:ext uri="{A12FA001-AC4F-418D-AE19-62706E023703}">
                      <ahyp:hlinkClr val="tx"/>
                    </a:ext>
                  </a:extLst>
                </a:hlinkClick>
              </a:rPr>
              <a:t>https://cs50.harvard.edu/x/license/</a:t>
            </a:r>
            <a:r>
              <a:rPr lang="en" sz="1100">
                <a:solidFill>
                  <a:schemeClr val="dk1"/>
                </a:solidFill>
                <a:latin typeface="JetBrains Mono"/>
                <a:ea typeface="JetBrains Mono"/>
                <a:cs typeface="JetBrains Mono"/>
                <a:sym typeface="JetBrains Mono"/>
              </a:rPr>
              <a:t> </a:t>
            </a:r>
            <a:endParaRPr sz="1100">
              <a:solidFill>
                <a:schemeClr val="dk1"/>
              </a:solidFill>
              <a:latin typeface="JetBrains Mono"/>
              <a:ea typeface="JetBrains Mono"/>
              <a:cs typeface="JetBrains Mono"/>
              <a:sym typeface="JetBrains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6" name="Shape 126"/>
        <p:cNvGrpSpPr/>
        <p:nvPr/>
      </p:nvGrpSpPr>
      <p:grpSpPr>
        <a:xfrm>
          <a:off x="0" y="0"/>
          <a:ext cx="0" cy="0"/>
          <a:chOff x="0" y="0"/>
          <a:chExt cx="0" cy="0"/>
        </a:xfrm>
      </p:grpSpPr>
      <p:sp>
        <p:nvSpPr>
          <p:cNvPr id="127" name="Google Shape;127;p30"/>
          <p:cNvSpPr txBox="1"/>
          <p:nvPr>
            <p:ph type="ctrTitle"/>
          </p:nvPr>
        </p:nvSpPr>
        <p:spPr>
          <a:xfrm>
            <a:off x="311700" y="736075"/>
            <a:ext cx="8520600" cy="927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JetBrains Mono"/>
                <a:ea typeface="JetBrains Mono"/>
                <a:cs typeface="JetBrains Mono"/>
                <a:sym typeface="JetBrains Mono"/>
              </a:rPr>
              <a:t>What we will be doing today</a:t>
            </a:r>
            <a:endParaRPr>
              <a:latin typeface="JetBrains Mono"/>
              <a:ea typeface="JetBrains Mono"/>
              <a:cs typeface="JetBrains Mono"/>
              <a:sym typeface="JetBrains Mono"/>
            </a:endParaRPr>
          </a:p>
        </p:txBody>
      </p:sp>
      <p:sp>
        <p:nvSpPr>
          <p:cNvPr id="128" name="Google Shape;128;p30"/>
          <p:cNvSpPr txBox="1"/>
          <p:nvPr>
            <p:ph idx="1" type="subTitle"/>
          </p:nvPr>
        </p:nvSpPr>
        <p:spPr>
          <a:xfrm>
            <a:off x="311700" y="1519950"/>
            <a:ext cx="8520600" cy="31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Today we will do week 0 of the cs50 courses by harvard. This week you will learn the basics of programing with a program called scratch.</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2" name="Shape 132"/>
        <p:cNvGrpSpPr/>
        <p:nvPr/>
      </p:nvGrpSpPr>
      <p:grpSpPr>
        <a:xfrm>
          <a:off x="0" y="0"/>
          <a:ext cx="0" cy="0"/>
          <a:chOff x="0" y="0"/>
          <a:chExt cx="0" cy="0"/>
        </a:xfrm>
      </p:grpSpPr>
      <p:sp>
        <p:nvSpPr>
          <p:cNvPr id="133" name="Google Shape;133;p31"/>
          <p:cNvSpPr txBox="1"/>
          <p:nvPr>
            <p:ph type="ctrTitle"/>
          </p:nvPr>
        </p:nvSpPr>
        <p:spPr>
          <a:xfrm>
            <a:off x="357025" y="260575"/>
            <a:ext cx="8520600" cy="871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JetBrains Mono"/>
                <a:ea typeface="JetBrains Mono"/>
                <a:cs typeface="JetBrains Mono"/>
                <a:sym typeface="JetBrains Mono"/>
              </a:rPr>
              <a:t>What is programing</a:t>
            </a:r>
            <a:endParaRPr>
              <a:latin typeface="JetBrains Mono"/>
              <a:ea typeface="JetBrains Mono"/>
              <a:cs typeface="JetBrains Mono"/>
              <a:sym typeface="JetBrains Mono"/>
            </a:endParaRPr>
          </a:p>
        </p:txBody>
      </p:sp>
      <p:sp>
        <p:nvSpPr>
          <p:cNvPr id="134" name="Google Shape;134;p31"/>
          <p:cNvSpPr txBox="1"/>
          <p:nvPr>
            <p:ph idx="1" type="subTitle"/>
          </p:nvPr>
        </p:nvSpPr>
        <p:spPr>
          <a:xfrm>
            <a:off x="311700" y="1359525"/>
            <a:ext cx="8520600" cy="3512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JetBrains Mono"/>
                <a:ea typeface="JetBrains Mono"/>
                <a:cs typeface="JetBrains Mono"/>
                <a:sym typeface="JetBrains Mono"/>
              </a:rPr>
              <a:t>Computer programming is about taking some input and creating some output - thus solving a problem. What happens in between the input and output, what we could call </a:t>
            </a:r>
            <a:r>
              <a:rPr i="1" lang="en" sz="1800">
                <a:solidFill>
                  <a:schemeClr val="dk1"/>
                </a:solidFill>
                <a:latin typeface="JetBrains Mono"/>
                <a:ea typeface="JetBrains Mono"/>
                <a:cs typeface="JetBrains Mono"/>
                <a:sym typeface="JetBrains Mono"/>
              </a:rPr>
              <a:t>a black box,</a:t>
            </a:r>
            <a:r>
              <a:rPr lang="en" sz="1800">
                <a:solidFill>
                  <a:schemeClr val="dk1"/>
                </a:solidFill>
                <a:latin typeface="JetBrains Mono"/>
                <a:ea typeface="JetBrains Mono"/>
                <a:cs typeface="JetBrains Mono"/>
                <a:sym typeface="JetBrains Mono"/>
              </a:rPr>
              <a:t> is the focus of this course.</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5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5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5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500">
              <a:solidFill>
                <a:schemeClr val="dk1"/>
              </a:solidFill>
              <a:latin typeface="JetBrains Mono"/>
              <a:ea typeface="JetBrains Mono"/>
              <a:cs typeface="JetBrains Mono"/>
              <a:sym typeface="JetBrains Mono"/>
            </a:endParaRPr>
          </a:p>
          <a:p>
            <a:pPr indent="0" lvl="0" marL="0" rtl="0" algn="l">
              <a:spcBef>
                <a:spcPts val="1200"/>
              </a:spcBef>
              <a:spcAft>
                <a:spcPts val="0"/>
              </a:spcAft>
              <a:buNone/>
            </a:pPr>
            <a:r>
              <a:t/>
            </a:r>
            <a:endParaRPr sz="1500">
              <a:solidFill>
                <a:schemeClr val="dk1"/>
              </a:solidFill>
              <a:latin typeface="Roboto Mono"/>
              <a:ea typeface="Roboto Mono"/>
              <a:cs typeface="Roboto Mono"/>
              <a:sym typeface="Roboto Mono"/>
            </a:endParaRPr>
          </a:p>
        </p:txBody>
      </p:sp>
      <p:sp>
        <p:nvSpPr>
          <p:cNvPr id="135" name="Google Shape;135;p31"/>
          <p:cNvSpPr/>
          <p:nvPr/>
        </p:nvSpPr>
        <p:spPr>
          <a:xfrm>
            <a:off x="3905093" y="3257744"/>
            <a:ext cx="1201800" cy="1203300"/>
          </a:xfrm>
          <a:prstGeom prst="rect">
            <a:avLst/>
          </a:prstGeom>
          <a:noFill/>
          <a:ln cap="flat" cmpd="sng" w="17100">
            <a:solidFill>
              <a:srgbClr val="FFFFFF"/>
            </a:solidFill>
            <a:prstDash val="solid"/>
            <a:round/>
            <a:headEnd len="sm" w="sm" type="none"/>
            <a:tailEnd len="sm" w="sm" type="none"/>
          </a:ln>
        </p:spPr>
        <p:txBody>
          <a:bodyPr anchorCtr="0" anchor="ctr" bIns="41050" lIns="41050" spcFirstLastPara="1" rIns="41050" wrap="square" tIns="41050">
            <a:noAutofit/>
          </a:bodyPr>
          <a:lstStyle/>
          <a:p>
            <a:pPr indent="0" lvl="0" marL="0" rtl="0" algn="l">
              <a:spcBef>
                <a:spcPts val="0"/>
              </a:spcBef>
              <a:spcAft>
                <a:spcPts val="0"/>
              </a:spcAft>
              <a:buNone/>
            </a:pPr>
            <a:r>
              <a:t/>
            </a:r>
            <a:endParaRPr/>
          </a:p>
        </p:txBody>
      </p:sp>
      <p:sp>
        <p:nvSpPr>
          <p:cNvPr id="136" name="Google Shape;136;p31"/>
          <p:cNvSpPr txBox="1"/>
          <p:nvPr/>
        </p:nvSpPr>
        <p:spPr>
          <a:xfrm>
            <a:off x="3040109" y="3663996"/>
            <a:ext cx="864900" cy="337800"/>
          </a:xfrm>
          <a:prstGeom prst="rect">
            <a:avLst/>
          </a:prstGeom>
          <a:noFill/>
          <a:ln>
            <a:noFill/>
          </a:ln>
        </p:spPr>
        <p:txBody>
          <a:bodyPr anchorCtr="0" anchor="t" bIns="41050" lIns="41050" spcFirstLastPara="1" rIns="41050" wrap="square" tIns="41050">
            <a:noAutofit/>
          </a:bodyPr>
          <a:lstStyle/>
          <a:p>
            <a:pPr indent="0" lvl="0" marL="0" rtl="0" algn="r">
              <a:spcBef>
                <a:spcPts val="0"/>
              </a:spcBef>
              <a:spcAft>
                <a:spcPts val="0"/>
              </a:spcAft>
              <a:buNone/>
            </a:pPr>
            <a:r>
              <a:rPr lang="en" sz="1617">
                <a:solidFill>
                  <a:srgbClr val="FFFFFF"/>
                </a:solidFill>
              </a:rPr>
              <a:t>input →  </a:t>
            </a:r>
            <a:endParaRPr sz="1617">
              <a:solidFill>
                <a:srgbClr val="FFFFFF"/>
              </a:solidFill>
            </a:endParaRPr>
          </a:p>
        </p:txBody>
      </p:sp>
      <p:sp>
        <p:nvSpPr>
          <p:cNvPr id="137" name="Google Shape;137;p31"/>
          <p:cNvSpPr txBox="1"/>
          <p:nvPr/>
        </p:nvSpPr>
        <p:spPr>
          <a:xfrm>
            <a:off x="5106991" y="3663996"/>
            <a:ext cx="996900" cy="337800"/>
          </a:xfrm>
          <a:prstGeom prst="rect">
            <a:avLst/>
          </a:prstGeom>
          <a:noFill/>
          <a:ln>
            <a:noFill/>
          </a:ln>
        </p:spPr>
        <p:txBody>
          <a:bodyPr anchorCtr="0" anchor="t" bIns="41050" lIns="41050" spcFirstLastPara="1" rIns="41050" wrap="square" tIns="41050">
            <a:noAutofit/>
          </a:bodyPr>
          <a:lstStyle/>
          <a:p>
            <a:pPr indent="0" lvl="0" marL="0" rtl="0" algn="l">
              <a:spcBef>
                <a:spcPts val="0"/>
              </a:spcBef>
              <a:spcAft>
                <a:spcPts val="0"/>
              </a:spcAft>
              <a:buNone/>
            </a:pPr>
            <a:r>
              <a:rPr lang="en" sz="1617">
                <a:solidFill>
                  <a:srgbClr val="FFFFFF"/>
                </a:solidFill>
              </a:rPr>
              <a:t> → output</a:t>
            </a:r>
            <a:endParaRPr sz="1617">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1" name="Shape 141"/>
        <p:cNvGrpSpPr/>
        <p:nvPr/>
      </p:nvGrpSpPr>
      <p:grpSpPr>
        <a:xfrm>
          <a:off x="0" y="0"/>
          <a:ext cx="0" cy="0"/>
          <a:chOff x="0" y="0"/>
          <a:chExt cx="0" cy="0"/>
        </a:xfrm>
      </p:grpSpPr>
      <p:sp>
        <p:nvSpPr>
          <p:cNvPr id="142" name="Google Shape;142;p32"/>
          <p:cNvSpPr txBox="1"/>
          <p:nvPr>
            <p:ph type="ctrTitle"/>
          </p:nvPr>
        </p:nvSpPr>
        <p:spPr>
          <a:xfrm>
            <a:off x="311700" y="63500"/>
            <a:ext cx="8520600" cy="901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JetBrains Mono"/>
                <a:ea typeface="JetBrains Mono"/>
                <a:cs typeface="JetBrains Mono"/>
                <a:sym typeface="JetBrains Mono"/>
              </a:rPr>
              <a:t>binary</a:t>
            </a:r>
            <a:endParaRPr>
              <a:latin typeface="JetBrains Mono"/>
              <a:ea typeface="JetBrains Mono"/>
              <a:cs typeface="JetBrains Mono"/>
              <a:sym typeface="JetBrains Mono"/>
            </a:endParaRPr>
          </a:p>
        </p:txBody>
      </p:sp>
      <p:sp>
        <p:nvSpPr>
          <p:cNvPr id="143" name="Google Shape;143;p32"/>
          <p:cNvSpPr txBox="1"/>
          <p:nvPr>
            <p:ph idx="1" type="subTitle"/>
          </p:nvPr>
        </p:nvSpPr>
        <p:spPr>
          <a:xfrm>
            <a:off x="311700" y="1065200"/>
            <a:ext cx="8520600" cy="373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Computers today use something called binary (or base 2) witch has two numbers 1 and 0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a:solidFill>
                  <a:schemeClr val="dk1"/>
                </a:solidFill>
                <a:latin typeface="JetBrains Mono"/>
                <a:ea typeface="JetBrains Mono"/>
                <a:cs typeface="JetBrains Mono"/>
                <a:sym typeface="JetBrains Mono"/>
              </a:rPr>
              <a:t>Now how can we count with this?</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7" name="Shape 147"/>
        <p:cNvGrpSpPr/>
        <p:nvPr/>
      </p:nvGrpSpPr>
      <p:grpSpPr>
        <a:xfrm>
          <a:off x="0" y="0"/>
          <a:ext cx="0" cy="0"/>
          <a:chOff x="0" y="0"/>
          <a:chExt cx="0" cy="0"/>
        </a:xfrm>
      </p:grpSpPr>
      <p:sp>
        <p:nvSpPr>
          <p:cNvPr id="148" name="Google Shape;148;p33"/>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We can add a new digit then we can make that 2 </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10</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Then 3</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11</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Then four is </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100</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Then 5</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101</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Then 6</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110</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Finally 7</a:t>
            </a:r>
            <a:endParaRPr sz="240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rPr lang="en" sz="2400">
                <a:solidFill>
                  <a:schemeClr val="dk1"/>
                </a:solidFill>
                <a:latin typeface="JetBrains Mono"/>
                <a:ea typeface="JetBrains Mono"/>
                <a:cs typeface="JetBrains Mono"/>
                <a:sym typeface="JetBrains Mono"/>
              </a:rPr>
              <a:t>111</a:t>
            </a:r>
            <a:endParaRPr sz="2400">
              <a:solidFill>
                <a:schemeClr val="dk1"/>
              </a:solidFill>
              <a:latin typeface="JetBrains Mono"/>
              <a:ea typeface="JetBrains Mono"/>
              <a:cs typeface="JetBrains Mono"/>
              <a:sym typeface="JetBrains Mono"/>
            </a:endParaRPr>
          </a:p>
        </p:txBody>
      </p:sp>
      <p:graphicFrame>
        <p:nvGraphicFramePr>
          <p:cNvPr id="149" name="Google Shape;149;p33"/>
          <p:cNvGraphicFramePr/>
          <p:nvPr/>
        </p:nvGraphicFramePr>
        <p:xfrm>
          <a:off x="3142525" y="2097850"/>
          <a:ext cx="3000000" cy="3000000"/>
        </p:xfrm>
        <a:graphic>
          <a:graphicData uri="http://schemas.openxmlformats.org/drawingml/2006/table">
            <a:tbl>
              <a:tblPr>
                <a:noFill/>
                <a:tableStyleId>{A1A71252-E9B2-4A53-8B6C-92C0963F4199}</a:tableStyleId>
              </a:tblPr>
              <a:tblGrid>
                <a:gridCol w="1025800"/>
                <a:gridCol w="746700"/>
                <a:gridCol w="732750"/>
                <a:gridCol w="676900"/>
                <a:gridCol w="551325"/>
                <a:gridCol w="676900"/>
                <a:gridCol w="593200"/>
                <a:gridCol w="704825"/>
              </a:tblGrid>
              <a:tr h="496550">
                <a:tc>
                  <a:txBody>
                    <a:bodyPr/>
                    <a:lstStyle/>
                    <a:p>
                      <a:pPr indent="0" lvl="0" marL="0" rtl="0" algn="ctr">
                        <a:spcBef>
                          <a:spcPts val="0"/>
                        </a:spcBef>
                        <a:spcAft>
                          <a:spcPts val="0"/>
                        </a:spcAft>
                        <a:buNone/>
                      </a:pPr>
                      <a:r>
                        <a:rPr lang="en">
                          <a:solidFill>
                            <a:schemeClr val="dk1"/>
                          </a:solidFill>
                        </a:rPr>
                        <a:t>128</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64</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32</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16</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tc>
              </a:tr>
              <a:tr h="496550">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p34"/>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JetBrains Mono"/>
                <a:ea typeface="JetBrains Mono"/>
                <a:cs typeface="JetBrains Mono"/>
                <a:sym typeface="JetBrains Mono"/>
              </a:rPr>
              <a:t>Just as numbers are binary patterns of ones and zeros, letters are represented using ones and zeros, too!</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Since there is an overlap between the ones and zeros that represent numbers and letters, the </a:t>
            </a:r>
            <a:r>
              <a:rPr i="1" lang="en" sz="1800">
                <a:solidFill>
                  <a:schemeClr val="dk1"/>
                </a:solidFill>
                <a:latin typeface="JetBrains Mono"/>
                <a:ea typeface="JetBrains Mono"/>
                <a:cs typeface="JetBrains Mono"/>
                <a:sym typeface="JetBrains Mono"/>
              </a:rPr>
              <a:t>ASCII</a:t>
            </a:r>
            <a:r>
              <a:rPr lang="en" sz="1800">
                <a:solidFill>
                  <a:schemeClr val="dk1"/>
                </a:solidFill>
                <a:latin typeface="JetBrains Mono"/>
                <a:ea typeface="JetBrains Mono"/>
                <a:cs typeface="JetBrains Mono"/>
                <a:sym typeface="JetBrains Mono"/>
              </a:rPr>
              <a:t> standard was created to map specific letters to specific numbers.</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For example, the letter A was decided to map to the number 65. 01000001 represents the number 65 in binary. You can visualize this as follows:</a:t>
            </a:r>
            <a:endParaRPr sz="1800">
              <a:solidFill>
                <a:schemeClr val="dk1"/>
              </a:solidFill>
              <a:latin typeface="JetBrains Mono"/>
              <a:ea typeface="JetBrains Mono"/>
              <a:cs typeface="JetBrains Mono"/>
              <a:sym typeface="JetBrains Mono"/>
            </a:endParaRPr>
          </a:p>
          <a:p>
            <a:pPr indent="0" lvl="0" marL="0" rtl="0" algn="ctr">
              <a:spcBef>
                <a:spcPts val="1200"/>
              </a:spcBef>
              <a:spcAft>
                <a:spcPts val="0"/>
              </a:spcAft>
              <a:buNone/>
            </a:pPr>
            <a:r>
              <a:t/>
            </a:r>
            <a:endParaRPr sz="2400">
              <a:solidFill>
                <a:schemeClr val="dk1"/>
              </a:solidFill>
              <a:latin typeface="JetBrains Mono"/>
              <a:ea typeface="JetBrains Mono"/>
              <a:cs typeface="JetBrains Mono"/>
              <a:sym typeface="JetBrains Mono"/>
            </a:endParaRPr>
          </a:p>
        </p:txBody>
      </p:sp>
      <p:graphicFrame>
        <p:nvGraphicFramePr>
          <p:cNvPr id="155" name="Google Shape;155;p34"/>
          <p:cNvGraphicFramePr/>
          <p:nvPr/>
        </p:nvGraphicFramePr>
        <p:xfrm>
          <a:off x="1711500" y="3565600"/>
          <a:ext cx="3000000" cy="3000000"/>
        </p:xfrm>
        <a:graphic>
          <a:graphicData uri="http://schemas.openxmlformats.org/drawingml/2006/table">
            <a:tbl>
              <a:tblPr>
                <a:noFill/>
                <a:tableStyleId>{A1A71252-E9B2-4A53-8B6C-92C0963F4199}</a:tableStyleId>
              </a:tblPr>
              <a:tblGrid>
                <a:gridCol w="1025800"/>
                <a:gridCol w="746700"/>
                <a:gridCol w="732750"/>
                <a:gridCol w="676900"/>
                <a:gridCol w="551325"/>
                <a:gridCol w="676900"/>
                <a:gridCol w="593200"/>
                <a:gridCol w="704825"/>
              </a:tblGrid>
              <a:tr h="496550">
                <a:tc>
                  <a:txBody>
                    <a:bodyPr/>
                    <a:lstStyle/>
                    <a:p>
                      <a:pPr indent="0" lvl="0" marL="0" rtl="0" algn="ctr">
                        <a:spcBef>
                          <a:spcPts val="0"/>
                        </a:spcBef>
                        <a:spcAft>
                          <a:spcPts val="0"/>
                        </a:spcAft>
                        <a:buNone/>
                      </a:pPr>
                      <a:r>
                        <a:rPr lang="en">
                          <a:solidFill>
                            <a:schemeClr val="dk1"/>
                          </a:solidFill>
                        </a:rPr>
                        <a:t>128</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64</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32</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16</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tc>
              </a:tr>
              <a:tr h="496550">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9" name="Shape 159"/>
        <p:cNvGrpSpPr/>
        <p:nvPr/>
      </p:nvGrpSpPr>
      <p:grpSpPr>
        <a:xfrm>
          <a:off x="0" y="0"/>
          <a:ext cx="0" cy="0"/>
          <a:chOff x="0" y="0"/>
          <a:chExt cx="0" cy="0"/>
        </a:xfrm>
      </p:grpSpPr>
      <p:sp>
        <p:nvSpPr>
          <p:cNvPr id="160" name="Google Shape;160;p35"/>
          <p:cNvSpPr txBox="1"/>
          <p:nvPr/>
        </p:nvSpPr>
        <p:spPr>
          <a:xfrm>
            <a:off x="192600" y="169950"/>
            <a:ext cx="8746200" cy="48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None/>
            </a:pPr>
            <a:r>
              <a:rPr lang="en" sz="1800">
                <a:solidFill>
                  <a:schemeClr val="dk1"/>
                </a:solidFill>
                <a:latin typeface="JetBrains Mono"/>
                <a:ea typeface="JetBrains Mono"/>
                <a:cs typeface="JetBrains Mono"/>
                <a:sym typeface="JetBrains Mono"/>
              </a:rPr>
              <a:t>If you received a text message, the binary under that message might represent the numbers 72, 73, and 33. Mapping these out to ASCII, your message would look as follows:</a:t>
            </a:r>
            <a:endParaRPr sz="1800">
              <a:solidFill>
                <a:schemeClr val="dk1"/>
              </a:solidFill>
              <a:latin typeface="JetBrains Mono"/>
              <a:ea typeface="JetBrains Mono"/>
              <a:cs typeface="JetBrains Mono"/>
              <a:sym typeface="JetBrains Mono"/>
            </a:endParaRPr>
          </a:p>
          <a:p>
            <a:pPr indent="0" lvl="0" marL="0" rtl="0" algn="ctr">
              <a:lnSpc>
                <a:spcPct val="115000"/>
              </a:lnSpc>
              <a:spcBef>
                <a:spcPts val="600"/>
              </a:spcBef>
              <a:spcAft>
                <a:spcPts val="0"/>
              </a:spcAft>
              <a:buNone/>
            </a:pPr>
            <a:r>
              <a:rPr lang="en" sz="1800">
                <a:solidFill>
                  <a:schemeClr val="dk1"/>
                </a:solidFill>
                <a:latin typeface="JetBrains Mono"/>
                <a:ea typeface="JetBrains Mono"/>
                <a:cs typeface="JetBrains Mono"/>
                <a:sym typeface="JetBrains Mono"/>
              </a:rPr>
              <a:t>H   I   !</a:t>
            </a:r>
            <a:endParaRPr sz="1800">
              <a:solidFill>
                <a:schemeClr val="dk1"/>
              </a:solidFill>
              <a:latin typeface="JetBrains Mono"/>
              <a:ea typeface="JetBrains Mono"/>
              <a:cs typeface="JetBrains Mono"/>
              <a:sym typeface="JetBrains Mono"/>
            </a:endParaRPr>
          </a:p>
          <a:p>
            <a:pPr indent="0" lvl="0" marL="0" rtl="0" algn="ctr">
              <a:lnSpc>
                <a:spcPct val="125000"/>
              </a:lnSpc>
              <a:spcBef>
                <a:spcPts val="600"/>
              </a:spcBef>
              <a:spcAft>
                <a:spcPts val="0"/>
              </a:spcAft>
              <a:buNone/>
            </a:pPr>
            <a:r>
              <a:rPr lang="en" sz="1800">
                <a:solidFill>
                  <a:schemeClr val="dk1"/>
                </a:solidFill>
                <a:latin typeface="JetBrains Mono"/>
                <a:ea typeface="JetBrains Mono"/>
                <a:cs typeface="JetBrains Mono"/>
                <a:sym typeface="JetBrains Mono"/>
              </a:rPr>
              <a:t>72  73  33</a:t>
            </a:r>
            <a:endParaRPr sz="1800">
              <a:solidFill>
                <a:schemeClr val="dk1"/>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4" name="Shape 164"/>
        <p:cNvGrpSpPr/>
        <p:nvPr/>
      </p:nvGrpSpPr>
      <p:grpSpPr>
        <a:xfrm>
          <a:off x="0" y="0"/>
          <a:ext cx="0" cy="0"/>
          <a:chOff x="0" y="0"/>
          <a:chExt cx="0" cy="0"/>
        </a:xfrm>
      </p:grpSpPr>
      <p:sp>
        <p:nvSpPr>
          <p:cNvPr id="165" name="Google Shape;165;p36"/>
          <p:cNvSpPr txBox="1"/>
          <p:nvPr/>
        </p:nvSpPr>
        <p:spPr>
          <a:xfrm>
            <a:off x="192600" y="169950"/>
            <a:ext cx="8746200" cy="4848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chemeClr val="dk1"/>
                </a:solidFill>
                <a:latin typeface="JetBrains Mono"/>
                <a:ea typeface="JetBrains Mono"/>
                <a:cs typeface="JetBrains Mono"/>
                <a:sym typeface="JetBrains Mono"/>
              </a:rPr>
              <a:t>As time has rolled on, there are more and more ways to communicate via text.</a:t>
            </a:r>
            <a:endParaRPr sz="2000">
              <a:solidFill>
                <a:schemeClr val="dk1"/>
              </a:solidFill>
              <a:latin typeface="JetBrains Mono"/>
              <a:ea typeface="JetBrains Mono"/>
              <a:cs typeface="JetBrains Mono"/>
              <a:sym typeface="JetBrains Mono"/>
            </a:endParaRPr>
          </a:p>
          <a:p>
            <a:pPr indent="0" lvl="0" marL="0" rtl="0" algn="ctr">
              <a:lnSpc>
                <a:spcPct val="115000"/>
              </a:lnSpc>
              <a:spcBef>
                <a:spcPts val="1200"/>
              </a:spcBef>
              <a:spcAft>
                <a:spcPts val="0"/>
              </a:spcAft>
              <a:buNone/>
            </a:pPr>
            <a:r>
              <a:rPr lang="en" sz="2000">
                <a:solidFill>
                  <a:schemeClr val="dk1"/>
                </a:solidFill>
                <a:latin typeface="JetBrains Mono"/>
                <a:ea typeface="JetBrains Mono"/>
                <a:cs typeface="JetBrains Mono"/>
                <a:sym typeface="JetBrains Mono"/>
              </a:rPr>
              <a:t>Since there were not enough digits in binary to represent all the various characters that could be represented by humans, the </a:t>
            </a:r>
            <a:r>
              <a:rPr i="1" lang="en" sz="2000">
                <a:solidFill>
                  <a:schemeClr val="dk1"/>
                </a:solidFill>
                <a:latin typeface="JetBrains Mono"/>
                <a:ea typeface="JetBrains Mono"/>
                <a:cs typeface="JetBrains Mono"/>
                <a:sym typeface="JetBrains Mono"/>
              </a:rPr>
              <a:t>Unicode</a:t>
            </a:r>
            <a:r>
              <a:rPr lang="en" sz="2000">
                <a:solidFill>
                  <a:schemeClr val="dk1"/>
                </a:solidFill>
                <a:latin typeface="JetBrains Mono"/>
                <a:ea typeface="JetBrains Mono"/>
                <a:cs typeface="JetBrains Mono"/>
                <a:sym typeface="JetBrains Mono"/>
              </a:rPr>
              <a:t> standard expanded the number of bits that can be transmitted and understood by computers. Unicode includes not only special characters, but emoji as well.</a:t>
            </a:r>
            <a:endParaRPr sz="2000">
              <a:solidFill>
                <a:schemeClr val="dk1"/>
              </a:solidFill>
              <a:latin typeface="JetBrains Mono"/>
              <a:ea typeface="JetBrains Mono"/>
              <a:cs typeface="JetBrains Mono"/>
              <a:sym typeface="JetBrains Mono"/>
            </a:endParaRPr>
          </a:p>
          <a:p>
            <a:pPr indent="0" lvl="0" marL="0" rtl="0" algn="ctr">
              <a:lnSpc>
                <a:spcPct val="115000"/>
              </a:lnSpc>
              <a:spcBef>
                <a:spcPts val="1200"/>
              </a:spcBef>
              <a:spcAft>
                <a:spcPts val="0"/>
              </a:spcAft>
              <a:buNone/>
            </a:pPr>
            <a:r>
              <a:rPr lang="en" sz="2000">
                <a:solidFill>
                  <a:schemeClr val="dk1"/>
                </a:solidFill>
                <a:latin typeface="JetBrains Mono"/>
                <a:ea typeface="JetBrains Mono"/>
                <a:cs typeface="JetBrains Mono"/>
                <a:sym typeface="JetBrains Mono"/>
              </a:rPr>
              <a:t>There are emoji that you probably use every day. The following may look familiar to you: 😀😂😅😎😡😐</a:t>
            </a:r>
            <a:endParaRPr sz="2000">
              <a:solidFill>
                <a:schemeClr val="dk1"/>
              </a:solidFill>
              <a:latin typeface="JetBrains Mono"/>
              <a:ea typeface="JetBrains Mono"/>
              <a:cs typeface="JetBrains Mono"/>
              <a:sym typeface="JetBrains Mono"/>
            </a:endParaRPr>
          </a:p>
          <a:p>
            <a:pPr indent="0" lvl="0" marL="0" rtl="0" algn="ctr">
              <a:lnSpc>
                <a:spcPct val="125000"/>
              </a:lnSpc>
              <a:spcBef>
                <a:spcPts val="1200"/>
              </a:spcBef>
              <a:spcAft>
                <a:spcPts val="0"/>
              </a:spcAft>
              <a:buNone/>
            </a:pPr>
            <a:r>
              <a:t/>
            </a:r>
            <a:endParaRPr sz="2000">
              <a:solidFill>
                <a:schemeClr val="dk1"/>
              </a:solidFill>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9" name="Shape 169"/>
        <p:cNvGrpSpPr/>
        <p:nvPr/>
      </p:nvGrpSpPr>
      <p:grpSpPr>
        <a:xfrm>
          <a:off x="0" y="0"/>
          <a:ext cx="0" cy="0"/>
          <a:chOff x="0" y="0"/>
          <a:chExt cx="0" cy="0"/>
        </a:xfrm>
      </p:grpSpPr>
      <p:sp>
        <p:nvSpPr>
          <p:cNvPr id="170" name="Google Shape;170;p37"/>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JetBrains Mono"/>
                <a:ea typeface="JetBrains Mono"/>
                <a:cs typeface="JetBrains Mono"/>
                <a:sym typeface="JetBrains Mono"/>
              </a:rPr>
              <a:t>Zeros and ones can be used to represent color.</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Red, green, and blue (called RGB) are a combination of three numbers.</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rPr lang="en" sz="1800">
                <a:solidFill>
                  <a:schemeClr val="dk1"/>
                </a:solidFill>
                <a:latin typeface="JetBrains Mono"/>
                <a:ea typeface="JetBrains Mono"/>
                <a:cs typeface="JetBrains Mono"/>
                <a:sym typeface="JetBrains Mono"/>
              </a:rPr>
              <a:t>Taking our previously used 72, 73, and 33, which said HI! via text, would be interpreted by image readers as a light shade of yellow. The red value would be 72, the green value would be 73, and the blue would be 33.</a:t>
            </a:r>
            <a:endParaRPr sz="1800">
              <a:solidFill>
                <a:schemeClr val="dk1"/>
              </a:solidFill>
              <a:latin typeface="JetBrains Mono"/>
              <a:ea typeface="JetBrains Mono"/>
              <a:cs typeface="JetBrains Mono"/>
              <a:sym typeface="JetBrains Mono"/>
            </a:endParaRPr>
          </a:p>
        </p:txBody>
      </p:sp>
      <p:graphicFrame>
        <p:nvGraphicFramePr>
          <p:cNvPr id="171" name="Google Shape;171;p37"/>
          <p:cNvGraphicFramePr/>
          <p:nvPr/>
        </p:nvGraphicFramePr>
        <p:xfrm>
          <a:off x="3100063" y="1220438"/>
          <a:ext cx="3000000" cy="3000000"/>
        </p:xfrm>
        <a:graphic>
          <a:graphicData uri="http://schemas.openxmlformats.org/drawingml/2006/table">
            <a:tbl>
              <a:tblPr>
                <a:noFill/>
                <a:tableStyleId>{A1A71252-E9B2-4A53-8B6C-92C0963F4199}</a:tableStyleId>
              </a:tblPr>
              <a:tblGrid>
                <a:gridCol w="930300"/>
                <a:gridCol w="930300"/>
                <a:gridCol w="930300"/>
              </a:tblGrid>
              <a:tr h="946250">
                <a:tc>
                  <a:txBody>
                    <a:bodyPr/>
                    <a:lstStyle/>
                    <a:p>
                      <a:pPr indent="0" lvl="0" marL="0" rtl="0" algn="ctr">
                        <a:spcBef>
                          <a:spcPts val="0"/>
                        </a:spcBef>
                        <a:spcAft>
                          <a:spcPts val="0"/>
                        </a:spcAft>
                        <a:buNone/>
                      </a:pPr>
                      <a:r>
                        <a:rPr lang="en" sz="2400">
                          <a:solidFill>
                            <a:srgbClr val="FFFFFF"/>
                          </a:solidFill>
                          <a:latin typeface="Consolas"/>
                          <a:ea typeface="Consolas"/>
                          <a:cs typeface="Consolas"/>
                          <a:sym typeface="Consolas"/>
                        </a:rPr>
                        <a:t>72</a:t>
                      </a:r>
                      <a:endParaRPr sz="2400">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2400">
                          <a:solidFill>
                            <a:srgbClr val="FFFFFF"/>
                          </a:solidFill>
                          <a:latin typeface="Consolas"/>
                          <a:ea typeface="Consolas"/>
                          <a:cs typeface="Consolas"/>
                          <a:sym typeface="Consolas"/>
                        </a:rPr>
                        <a:t>73</a:t>
                      </a:r>
                      <a:endParaRPr sz="2400">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0FF00"/>
                    </a:solidFill>
                  </a:tcPr>
                </a:tc>
                <a:tc>
                  <a:txBody>
                    <a:bodyPr/>
                    <a:lstStyle/>
                    <a:p>
                      <a:pPr indent="0" lvl="0" marL="0" rtl="0" algn="ctr">
                        <a:spcBef>
                          <a:spcPts val="0"/>
                        </a:spcBef>
                        <a:spcAft>
                          <a:spcPts val="0"/>
                        </a:spcAft>
                        <a:buNone/>
                      </a:pPr>
                      <a:r>
                        <a:rPr lang="en" sz="2400">
                          <a:solidFill>
                            <a:srgbClr val="FFFFFF"/>
                          </a:solidFill>
                          <a:latin typeface="Consolas"/>
                          <a:ea typeface="Consolas"/>
                          <a:cs typeface="Consolas"/>
                          <a:sym typeface="Consolas"/>
                        </a:rPr>
                        <a:t>33</a:t>
                      </a:r>
                      <a:endParaRPr sz="2400">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000FF"/>
                    </a:solidFill>
                  </a:tcPr>
                </a:tc>
              </a:tr>
            </a:tbl>
          </a:graphicData>
        </a:graphic>
      </p:graphicFrame>
      <p:graphicFrame>
        <p:nvGraphicFramePr>
          <p:cNvPr id="172" name="Google Shape;172;p37"/>
          <p:cNvGraphicFramePr/>
          <p:nvPr/>
        </p:nvGraphicFramePr>
        <p:xfrm>
          <a:off x="3245563" y="3883788"/>
          <a:ext cx="3000000" cy="3000000"/>
        </p:xfrm>
        <a:graphic>
          <a:graphicData uri="http://schemas.openxmlformats.org/drawingml/2006/table">
            <a:tbl>
              <a:tblPr>
                <a:noFill/>
                <a:tableStyleId>{A1A71252-E9B2-4A53-8B6C-92C0963F4199}</a:tableStyleId>
              </a:tblPr>
              <a:tblGrid>
                <a:gridCol w="784825"/>
                <a:gridCol w="930300"/>
                <a:gridCol w="937750"/>
              </a:tblGrid>
              <a:tr h="946250">
                <a:tc>
                  <a:txBody>
                    <a:bodyPr/>
                    <a:lstStyle/>
                    <a:p>
                      <a:pPr indent="0" lvl="0" marL="0" rtl="0" algn="ctr">
                        <a:spcBef>
                          <a:spcPts val="0"/>
                        </a:spcBef>
                        <a:spcAft>
                          <a:spcPts val="0"/>
                        </a:spcAft>
                        <a:buNone/>
                      </a:pPr>
                      <a:r>
                        <a:t/>
                      </a:r>
                      <a:endParaRPr sz="2400">
                        <a:solidFill>
                          <a:srgbClr val="FFFFFF"/>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rgbClr val="FFFFFF"/>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8DB63"/>
                    </a:solidFill>
                  </a:tcPr>
                </a:tc>
                <a:tc>
                  <a:txBody>
                    <a:bodyPr/>
                    <a:lstStyle/>
                    <a:p>
                      <a:pPr indent="0" lvl="0" marL="0" rtl="0" algn="ctr">
                        <a:spcBef>
                          <a:spcPts val="0"/>
                        </a:spcBef>
                        <a:spcAft>
                          <a:spcPts val="0"/>
                        </a:spcAft>
                        <a:buNone/>
                      </a:pPr>
                      <a:r>
                        <a:t/>
                      </a:r>
                      <a:endParaRPr sz="2400">
                        <a:solidFill>
                          <a:srgbClr val="FFFFFF"/>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6" name="Shape 176"/>
        <p:cNvGrpSpPr/>
        <p:nvPr/>
      </p:nvGrpSpPr>
      <p:grpSpPr>
        <a:xfrm>
          <a:off x="0" y="0"/>
          <a:ext cx="0" cy="0"/>
          <a:chOff x="0" y="0"/>
          <a:chExt cx="0" cy="0"/>
        </a:xfrm>
      </p:grpSpPr>
      <p:sp>
        <p:nvSpPr>
          <p:cNvPr id="177" name="Google Shape;177;p38"/>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Problem-solving is central to computer science and computer programming. An </a:t>
            </a:r>
            <a:r>
              <a:rPr i="1" lang="en">
                <a:solidFill>
                  <a:schemeClr val="dk1"/>
                </a:solidFill>
                <a:latin typeface="JetBrains Mono"/>
                <a:ea typeface="JetBrains Mono"/>
                <a:cs typeface="JetBrains Mono"/>
                <a:sym typeface="JetBrains Mono"/>
              </a:rPr>
              <a:t>algorithm</a:t>
            </a:r>
            <a:r>
              <a:rPr lang="en">
                <a:solidFill>
                  <a:schemeClr val="dk1"/>
                </a:solidFill>
                <a:latin typeface="JetBrains Mono"/>
                <a:ea typeface="JetBrains Mono"/>
                <a:cs typeface="JetBrains Mono"/>
                <a:sym typeface="JetBrains Mono"/>
              </a:rPr>
              <a:t> is a step-by-step set of instructions to solve a problem.</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Imagine the basic problem of trying to locate a single name in a phone book.</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How might one go about this?</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One approach could be to simply read from page one to the next to the next until reaching the last page.</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Another approach could be to search two pages at a time.</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A final and perhaps better approach could be to go to the middle of the phone book and ask, “Is the name I am looking for to the left or to the right?” Then, repeat this process, cutting the problem in half and half and half.</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Each of these approaches could be called </a:t>
            </a:r>
            <a:r>
              <a:rPr b="1" lang="en" u="sng">
                <a:solidFill>
                  <a:schemeClr val="dk1"/>
                </a:solidFill>
                <a:latin typeface="JetBrains Mono"/>
                <a:ea typeface="JetBrains Mono"/>
                <a:cs typeface="JetBrains Mono"/>
                <a:sym typeface="JetBrains Mono"/>
              </a:rPr>
              <a:t>algorithms</a:t>
            </a:r>
            <a:r>
              <a:rPr lang="en">
                <a:solidFill>
                  <a:schemeClr val="dk1"/>
                </a:solidFill>
                <a:latin typeface="JetBrains Mono"/>
                <a:ea typeface="JetBrains Mono"/>
                <a:cs typeface="JetBrains Mono"/>
                <a:sym typeface="JetBrains Mono"/>
              </a:rPr>
              <a:t>. The speed of each of these algorithms can be pictured as follows in what is called </a:t>
            </a:r>
            <a:r>
              <a:rPr i="1" lang="en">
                <a:solidFill>
                  <a:schemeClr val="dk1"/>
                </a:solidFill>
                <a:latin typeface="JetBrains Mono"/>
                <a:ea typeface="JetBrains Mono"/>
                <a:cs typeface="JetBrains Mono"/>
                <a:sym typeface="JetBrains Mono"/>
              </a:rPr>
              <a:t>big-O notation</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1" name="Shape 181"/>
        <p:cNvGrpSpPr/>
        <p:nvPr/>
      </p:nvGrpSpPr>
      <p:grpSpPr>
        <a:xfrm>
          <a:off x="0" y="0"/>
          <a:ext cx="0" cy="0"/>
          <a:chOff x="0" y="0"/>
          <a:chExt cx="0" cy="0"/>
        </a:xfrm>
      </p:grpSpPr>
      <p:sp>
        <p:nvSpPr>
          <p:cNvPr id="182" name="Google Shape;182;p39"/>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600">
              <a:solidFill>
                <a:schemeClr val="dk1"/>
              </a:solidFill>
              <a:latin typeface="Roboto Mono"/>
              <a:ea typeface="Roboto Mono"/>
              <a:cs typeface="Roboto Mono"/>
              <a:sym typeface="Roboto Mono"/>
            </a:endParaRPr>
          </a:p>
        </p:txBody>
      </p:sp>
      <p:pic>
        <p:nvPicPr>
          <p:cNvPr id="183" name="Google Shape;183;p39"/>
          <p:cNvPicPr preferRelativeResize="0"/>
          <p:nvPr/>
        </p:nvPicPr>
        <p:blipFill>
          <a:blip r:embed="rId3">
            <a:alphaModFix/>
          </a:blip>
          <a:stretch>
            <a:fillRect/>
          </a:stretch>
        </p:blipFill>
        <p:spPr>
          <a:xfrm>
            <a:off x="774475" y="389400"/>
            <a:ext cx="7582450" cy="4364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7" name="Shape 187"/>
        <p:cNvGrpSpPr/>
        <p:nvPr/>
      </p:nvGrpSpPr>
      <p:grpSpPr>
        <a:xfrm>
          <a:off x="0" y="0"/>
          <a:ext cx="0" cy="0"/>
          <a:chOff x="0" y="0"/>
          <a:chExt cx="0" cy="0"/>
        </a:xfrm>
      </p:grpSpPr>
      <p:sp>
        <p:nvSpPr>
          <p:cNvPr id="188" name="Google Shape;188;p40"/>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200">
                <a:solidFill>
                  <a:schemeClr val="dk1"/>
                </a:solidFill>
                <a:latin typeface="JetBrains Mono"/>
                <a:ea typeface="JetBrains Mono"/>
                <a:cs typeface="JetBrains Mono"/>
                <a:sym typeface="JetBrains Mono"/>
              </a:rPr>
              <a:t>Notice that the first algorithm, highlighted in red, has a big-O of n because if there are 100 names in the phone book, it could take up to 100 tries to find the correct name. The second algorithm, where two pages were searched at a time, has a big-O of n/2 because we searched twice as fast through the pages. The final algorithm has a big-O of log</a:t>
            </a:r>
            <a:r>
              <a:rPr baseline="-25000" lang="en" sz="2200">
                <a:solidFill>
                  <a:schemeClr val="dk1"/>
                </a:solidFill>
                <a:latin typeface="JetBrains Mono"/>
                <a:ea typeface="JetBrains Mono"/>
                <a:cs typeface="JetBrains Mono"/>
                <a:sym typeface="JetBrains Mono"/>
              </a:rPr>
              <a:t>2</a:t>
            </a:r>
            <a:r>
              <a:rPr lang="en" sz="2200">
                <a:solidFill>
                  <a:schemeClr val="dk1"/>
                </a:solidFill>
                <a:latin typeface="JetBrains Mono"/>
                <a:ea typeface="JetBrains Mono"/>
                <a:cs typeface="JetBrains Mono"/>
                <a:sym typeface="JetBrains Mono"/>
              </a:rPr>
              <a:t>n, as doubling the problem would only result in one more step to solve the problem.</a:t>
            </a:r>
            <a:endParaRPr sz="22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2200">
                <a:solidFill>
                  <a:schemeClr val="dk1"/>
                </a:solidFill>
                <a:latin typeface="JetBrains Mono"/>
                <a:ea typeface="JetBrains Mono"/>
                <a:cs typeface="JetBrains Mono"/>
                <a:sym typeface="JetBrains Mono"/>
              </a:rPr>
              <a:t>Programmers translate text-based, human instructions into </a:t>
            </a:r>
            <a:r>
              <a:rPr i="1" lang="en" sz="2200">
                <a:solidFill>
                  <a:schemeClr val="dk1"/>
                </a:solidFill>
                <a:latin typeface="JetBrains Mono"/>
                <a:ea typeface="JetBrains Mono"/>
                <a:cs typeface="JetBrains Mono"/>
                <a:sym typeface="JetBrains Mono"/>
              </a:rPr>
              <a:t>code</a:t>
            </a:r>
            <a:r>
              <a:rPr lang="en" sz="2200">
                <a:solidFill>
                  <a:schemeClr val="dk1"/>
                </a:solidFill>
                <a:latin typeface="JetBrains Mono"/>
                <a:ea typeface="JetBrains Mono"/>
                <a:cs typeface="JetBrains Mono"/>
                <a:sym typeface="JetBrains Mono"/>
              </a:rPr>
              <a:t> to solve problems.</a:t>
            </a:r>
            <a:endParaRPr sz="22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sz="2200">
              <a:solidFill>
                <a:schemeClr val="dk1"/>
              </a:solidFill>
              <a:latin typeface="JetBrains Mono"/>
              <a:ea typeface="JetBrains Mono"/>
              <a:cs typeface="JetBrains Mono"/>
              <a:sym typeface="JetBrains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2" name="Shape 192"/>
        <p:cNvGrpSpPr/>
        <p:nvPr/>
      </p:nvGrpSpPr>
      <p:grpSpPr>
        <a:xfrm>
          <a:off x="0" y="0"/>
          <a:ext cx="0" cy="0"/>
          <a:chOff x="0" y="0"/>
          <a:chExt cx="0" cy="0"/>
        </a:xfrm>
      </p:grpSpPr>
      <p:sp>
        <p:nvSpPr>
          <p:cNvPr id="193" name="Google Shape;193;p41"/>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00">
                <a:solidFill>
                  <a:schemeClr val="dk1"/>
                </a:solidFill>
                <a:latin typeface="JetBrains Mono"/>
                <a:ea typeface="JetBrains Mono"/>
                <a:cs typeface="JetBrains Mono"/>
                <a:sym typeface="JetBrains Mono"/>
              </a:rPr>
              <a:t>Notice that the first algorithm, highlighted in red, has a big-O of n because if there are 100 names in the phone book, it could take up to 100 tries to find the correct name. The second algorithm, where two pages were searched at a time, has a big-O of n/2 because we searched twice as fast through the pages. The final algorithm has a big-O of log</a:t>
            </a:r>
            <a:r>
              <a:rPr baseline="-25000" lang="en" sz="2100">
                <a:solidFill>
                  <a:schemeClr val="dk1"/>
                </a:solidFill>
                <a:latin typeface="JetBrains Mono"/>
                <a:ea typeface="JetBrains Mono"/>
                <a:cs typeface="JetBrains Mono"/>
                <a:sym typeface="JetBrains Mono"/>
              </a:rPr>
              <a:t>2</a:t>
            </a:r>
            <a:r>
              <a:rPr lang="en" sz="2100">
                <a:solidFill>
                  <a:schemeClr val="dk1"/>
                </a:solidFill>
                <a:latin typeface="JetBrains Mono"/>
                <a:ea typeface="JetBrains Mono"/>
                <a:cs typeface="JetBrains Mono"/>
                <a:sym typeface="JetBrains Mono"/>
              </a:rPr>
              <a:t>n, as doubling the problem would only result in one more step to solve the problem.</a:t>
            </a:r>
            <a:endParaRPr sz="21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2100">
                <a:solidFill>
                  <a:schemeClr val="dk1"/>
                </a:solidFill>
                <a:latin typeface="JetBrains Mono"/>
                <a:ea typeface="JetBrains Mono"/>
                <a:cs typeface="JetBrains Mono"/>
                <a:sym typeface="JetBrains Mono"/>
              </a:rPr>
              <a:t>Programmers translate text-based, human instructions into </a:t>
            </a:r>
            <a:r>
              <a:rPr i="1" lang="en" sz="2100">
                <a:solidFill>
                  <a:schemeClr val="dk1"/>
                </a:solidFill>
                <a:latin typeface="JetBrains Mono"/>
                <a:ea typeface="JetBrains Mono"/>
                <a:cs typeface="JetBrains Mono"/>
                <a:sym typeface="JetBrains Mono"/>
              </a:rPr>
              <a:t>code</a:t>
            </a:r>
            <a:r>
              <a:rPr lang="en" sz="2100">
                <a:solidFill>
                  <a:schemeClr val="dk1"/>
                </a:solidFill>
                <a:latin typeface="JetBrains Mono"/>
                <a:ea typeface="JetBrains Mono"/>
                <a:cs typeface="JetBrains Mono"/>
                <a:sym typeface="JetBrains Mono"/>
              </a:rPr>
              <a:t> to solve problems.</a:t>
            </a:r>
            <a:endParaRPr sz="21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sz="2100">
              <a:solidFill>
                <a:schemeClr val="dk1"/>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7" name="Shape 197"/>
        <p:cNvGrpSpPr/>
        <p:nvPr/>
      </p:nvGrpSpPr>
      <p:grpSpPr>
        <a:xfrm>
          <a:off x="0" y="0"/>
          <a:ext cx="0" cy="0"/>
          <a:chOff x="0" y="0"/>
          <a:chExt cx="0" cy="0"/>
        </a:xfrm>
      </p:grpSpPr>
      <p:sp>
        <p:nvSpPr>
          <p:cNvPr id="198" name="Google Shape;198;p42"/>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u="sng">
                <a:solidFill>
                  <a:schemeClr val="dk1"/>
                </a:solidFill>
                <a:latin typeface="JetBrains Mono"/>
                <a:ea typeface="JetBrains Mono"/>
                <a:cs typeface="JetBrains Mono"/>
                <a:sym typeface="JetBrains Mono"/>
              </a:rPr>
              <a:t>Pseudocode</a:t>
            </a:r>
            <a:r>
              <a:rPr lang="en" sz="1200">
                <a:solidFill>
                  <a:schemeClr val="dk1"/>
                </a:solidFill>
                <a:latin typeface="JetBrains Mono"/>
                <a:ea typeface="JetBrains Mono"/>
                <a:cs typeface="JetBrains Mono"/>
                <a:sym typeface="JetBrains Mono"/>
              </a:rPr>
              <a:t> is human-readable instructions that often </a:t>
            </a:r>
            <a:r>
              <a:rPr lang="en" sz="1200" u="sng">
                <a:solidFill>
                  <a:schemeClr val="dk1"/>
                </a:solidFill>
                <a:latin typeface="JetBrains Mono"/>
                <a:ea typeface="JetBrains Mono"/>
                <a:cs typeface="JetBrains Mono"/>
                <a:sym typeface="JetBrains Mono"/>
              </a:rPr>
              <a:t>describe the steps of an algorithm</a:t>
            </a:r>
            <a:r>
              <a:rPr lang="en" sz="1200">
                <a:solidFill>
                  <a:schemeClr val="dk1"/>
                </a:solidFill>
                <a:latin typeface="JetBrains Mono"/>
                <a:ea typeface="JetBrains Mono"/>
                <a:cs typeface="JetBrains Mono"/>
                <a:sym typeface="JetBrains Mono"/>
              </a:rPr>
              <a:t>.</a:t>
            </a:r>
            <a:endParaRPr sz="12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200">
                <a:solidFill>
                  <a:schemeClr val="dk1"/>
                </a:solidFill>
                <a:latin typeface="JetBrains Mono"/>
                <a:ea typeface="JetBrains Mono"/>
                <a:cs typeface="JetBrains Mono"/>
                <a:sym typeface="JetBrains Mono"/>
              </a:rPr>
              <a:t>The ability to create </a:t>
            </a:r>
            <a:r>
              <a:rPr i="1" lang="en" sz="1200">
                <a:solidFill>
                  <a:schemeClr val="dk1"/>
                </a:solidFill>
                <a:latin typeface="JetBrains Mono"/>
                <a:ea typeface="JetBrains Mono"/>
                <a:cs typeface="JetBrains Mono"/>
                <a:sym typeface="JetBrains Mono"/>
              </a:rPr>
              <a:t>pseudocode</a:t>
            </a:r>
            <a:r>
              <a:rPr lang="en" sz="1200">
                <a:solidFill>
                  <a:schemeClr val="dk1"/>
                </a:solidFill>
                <a:latin typeface="JetBrains Mono"/>
                <a:ea typeface="JetBrains Mono"/>
                <a:cs typeface="JetBrains Mono"/>
                <a:sym typeface="JetBrains Mono"/>
              </a:rPr>
              <a:t> is central to one’s success in both this class and in computer programming.</a:t>
            </a:r>
            <a:endParaRPr sz="12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200">
                <a:solidFill>
                  <a:schemeClr val="dk1"/>
                </a:solidFill>
                <a:latin typeface="JetBrains Mono"/>
                <a:ea typeface="JetBrains Mono"/>
                <a:cs typeface="JetBrains Mono"/>
                <a:sym typeface="JetBrains Mono"/>
              </a:rPr>
              <a:t>For example, considering the third algorithm above, we could compose pseudocode as follows:</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1  Pick up phone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2  Open to middle of phone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3  Look at page</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4  If person is on page</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5      Call person</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6  Else if person is earlier in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7      Open to middle of left half of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8      Go back to line 3</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9  Else if person is later in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10     Open to middle of right half of book</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11     Go back to line 3</a:t>
            </a:r>
            <a:endParaRPr sz="1200">
              <a:solidFill>
                <a:schemeClr val="dk1"/>
              </a:solidFill>
              <a:latin typeface="JetBrains Mono"/>
              <a:ea typeface="JetBrains Mono"/>
              <a:cs typeface="JetBrains Mono"/>
              <a:sym typeface="JetBrains Mono"/>
            </a:endParaRPr>
          </a:p>
          <a:p>
            <a:pPr indent="0" lvl="0" marL="0" rtl="0" algn="ctr">
              <a:lnSpc>
                <a:spcPct val="50000"/>
              </a:lnSpc>
              <a:spcBef>
                <a:spcPts val="1200"/>
              </a:spcBef>
              <a:spcAft>
                <a:spcPts val="0"/>
              </a:spcAft>
              <a:buNone/>
            </a:pPr>
            <a:r>
              <a:rPr lang="en" sz="1200">
                <a:solidFill>
                  <a:schemeClr val="dk1"/>
                </a:solidFill>
                <a:latin typeface="JetBrains Mono"/>
                <a:ea typeface="JetBrains Mono"/>
                <a:cs typeface="JetBrains Mono"/>
                <a:sym typeface="JetBrains Mono"/>
              </a:rPr>
              <a:t>12 Else</a:t>
            </a:r>
            <a:endParaRPr sz="1200">
              <a:solidFill>
                <a:schemeClr val="dk1"/>
              </a:solidFill>
              <a:latin typeface="JetBrains Mono"/>
              <a:ea typeface="JetBrains Mono"/>
              <a:cs typeface="JetBrains Mono"/>
              <a:sym typeface="JetBrains Mono"/>
            </a:endParaRPr>
          </a:p>
          <a:p>
            <a:pPr indent="-228600" lvl="0" marL="457200" rtl="0" algn="ctr">
              <a:lnSpc>
                <a:spcPct val="50000"/>
              </a:lnSpc>
              <a:spcBef>
                <a:spcPts val="1200"/>
              </a:spcBef>
              <a:spcAft>
                <a:spcPts val="0"/>
              </a:spcAft>
              <a:buClr>
                <a:schemeClr val="dk1"/>
              </a:buClr>
              <a:buSzPts val="1200"/>
              <a:buFont typeface="JetBrains Mono"/>
              <a:buNone/>
            </a:pPr>
            <a:r>
              <a:rPr lang="en" sz="1200">
                <a:solidFill>
                  <a:schemeClr val="dk1"/>
                </a:solidFill>
                <a:latin typeface="JetBrains Mono"/>
                <a:ea typeface="JetBrains Mono"/>
                <a:cs typeface="JetBrains Mono"/>
                <a:sym typeface="JetBrains Mono"/>
              </a:rPr>
              <a:t>13     Quit</a:t>
            </a:r>
            <a:endParaRPr sz="1200">
              <a:solidFill>
                <a:schemeClr val="dk1"/>
              </a:solidFill>
              <a:latin typeface="JetBrains Mono"/>
              <a:ea typeface="JetBrains Mono"/>
              <a:cs typeface="JetBrains Mono"/>
              <a:sym typeface="JetBrains Mono"/>
            </a:endParaRPr>
          </a:p>
          <a:p>
            <a:pPr indent="0" lvl="0" marL="0" rtl="0" algn="ctr">
              <a:lnSpc>
                <a:spcPct val="115000"/>
              </a:lnSpc>
              <a:spcBef>
                <a:spcPts val="1200"/>
              </a:spcBef>
              <a:spcAft>
                <a:spcPts val="1200"/>
              </a:spcAft>
              <a:buNone/>
            </a:pPr>
            <a:r>
              <a:t/>
            </a:r>
            <a:endParaRPr sz="1200">
              <a:solidFill>
                <a:schemeClr val="dk1"/>
              </a:solidFill>
              <a:latin typeface="JetBrains Mono"/>
              <a:ea typeface="JetBrains Mono"/>
              <a:cs typeface="JetBrains Mono"/>
              <a:sym typeface="JetBrai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2" name="Shape 202"/>
        <p:cNvGrpSpPr/>
        <p:nvPr/>
      </p:nvGrpSpPr>
      <p:grpSpPr>
        <a:xfrm>
          <a:off x="0" y="0"/>
          <a:ext cx="0" cy="0"/>
          <a:chOff x="0" y="0"/>
          <a:chExt cx="0" cy="0"/>
        </a:xfrm>
      </p:grpSpPr>
      <p:sp>
        <p:nvSpPr>
          <p:cNvPr id="203" name="Google Shape;203;p43"/>
          <p:cNvSpPr txBox="1"/>
          <p:nvPr/>
        </p:nvSpPr>
        <p:spPr>
          <a:xfrm>
            <a:off x="192600" y="169950"/>
            <a:ext cx="8746200" cy="48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u="sng">
                <a:solidFill>
                  <a:schemeClr val="dk1"/>
                </a:solidFill>
                <a:latin typeface="JetBrains Mono"/>
                <a:ea typeface="JetBrains Mono"/>
                <a:cs typeface="JetBrains Mono"/>
                <a:sym typeface="JetBrains Mono"/>
              </a:rPr>
              <a:t>Pseudocoding</a:t>
            </a:r>
            <a:r>
              <a:rPr lang="en">
                <a:solidFill>
                  <a:schemeClr val="dk1"/>
                </a:solidFill>
                <a:latin typeface="JetBrains Mono"/>
                <a:ea typeface="JetBrains Mono"/>
                <a:cs typeface="JetBrains Mono"/>
                <a:sym typeface="JetBrains Mono"/>
              </a:rPr>
              <a:t> is such an important skill for at least two reasons. First, when you pseudocode before you create formal code, it allows you to think through the logic of your problem in advance. Second, when you pseudocode, you can later provide this information to others that are seeking to understand your coding decisions and how your code works. Notice that the language within our pseudocode has some unique features. First, some of these lines begin with verbs like </a:t>
            </a:r>
            <a:r>
              <a:rPr i="1" lang="en">
                <a:solidFill>
                  <a:schemeClr val="dk1"/>
                </a:solidFill>
                <a:latin typeface="JetBrains Mono"/>
                <a:ea typeface="JetBrains Mono"/>
                <a:cs typeface="JetBrains Mono"/>
                <a:sym typeface="JetBrains Mono"/>
              </a:rPr>
              <a:t>pick up,</a:t>
            </a: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open,</a:t>
            </a: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look at.</a:t>
            </a:r>
            <a:r>
              <a:rPr lang="en">
                <a:solidFill>
                  <a:schemeClr val="dk1"/>
                </a:solidFill>
                <a:latin typeface="JetBrains Mono"/>
                <a:ea typeface="JetBrains Mono"/>
                <a:cs typeface="JetBrains Mono"/>
                <a:sym typeface="JetBrains Mono"/>
              </a:rPr>
              <a:t> Later, we will call these </a:t>
            </a:r>
            <a:r>
              <a:rPr i="1" lang="en">
                <a:solidFill>
                  <a:schemeClr val="dk1"/>
                </a:solidFill>
                <a:latin typeface="JetBrains Mono"/>
                <a:ea typeface="JetBrains Mono"/>
                <a:cs typeface="JetBrains Mono"/>
                <a:sym typeface="JetBrains Mono"/>
              </a:rPr>
              <a:t>functions</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Second, notice that some lines include statements like if or else if. These are called </a:t>
            </a:r>
            <a:r>
              <a:rPr i="1" lang="en">
                <a:solidFill>
                  <a:schemeClr val="dk1"/>
                </a:solidFill>
                <a:latin typeface="JetBrains Mono"/>
                <a:ea typeface="JetBrains Mono"/>
                <a:cs typeface="JetBrains Mono"/>
                <a:sym typeface="JetBrains Mono"/>
              </a:rPr>
              <a:t>conditionals</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Third, notice how there are expressions that can be stated as </a:t>
            </a:r>
            <a:r>
              <a:rPr i="1" lang="en">
                <a:solidFill>
                  <a:schemeClr val="dk1"/>
                </a:solidFill>
                <a:latin typeface="JetBrains Mono"/>
                <a:ea typeface="JetBrains Mono"/>
                <a:cs typeface="JetBrains Mono"/>
                <a:sym typeface="JetBrains Mono"/>
              </a:rPr>
              <a:t>true</a:t>
            </a:r>
            <a:r>
              <a:rPr lang="en">
                <a:solidFill>
                  <a:schemeClr val="dk1"/>
                </a:solidFill>
                <a:latin typeface="JetBrains Mono"/>
                <a:ea typeface="JetBrains Mono"/>
                <a:cs typeface="JetBrains Mono"/>
                <a:sym typeface="JetBrains Mono"/>
              </a:rPr>
              <a:t> or </a:t>
            </a:r>
            <a:r>
              <a:rPr i="1" lang="en">
                <a:solidFill>
                  <a:schemeClr val="dk1"/>
                </a:solidFill>
                <a:latin typeface="JetBrains Mono"/>
                <a:ea typeface="JetBrains Mono"/>
                <a:cs typeface="JetBrains Mono"/>
                <a:sym typeface="JetBrains Mono"/>
              </a:rPr>
              <a:t>false,</a:t>
            </a:r>
            <a:r>
              <a:rPr lang="en">
                <a:solidFill>
                  <a:schemeClr val="dk1"/>
                </a:solidFill>
                <a:latin typeface="JetBrains Mono"/>
                <a:ea typeface="JetBrains Mono"/>
                <a:cs typeface="JetBrains Mono"/>
                <a:sym typeface="JetBrains Mono"/>
              </a:rPr>
              <a:t> such as “person is earlier in the book.” We call these </a:t>
            </a:r>
            <a:r>
              <a:rPr i="1" lang="en">
                <a:solidFill>
                  <a:schemeClr val="dk1"/>
                </a:solidFill>
                <a:latin typeface="JetBrains Mono"/>
                <a:ea typeface="JetBrains Mono"/>
                <a:cs typeface="JetBrains Mono"/>
                <a:sym typeface="JetBrains Mono"/>
              </a:rPr>
              <a:t>boolean expressions</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Finally, notice how there are statements like “go back to line 3.” We call these </a:t>
            </a:r>
            <a:r>
              <a:rPr i="1" lang="en">
                <a:solidFill>
                  <a:schemeClr val="dk1"/>
                </a:solidFill>
                <a:latin typeface="JetBrains Mono"/>
                <a:ea typeface="JetBrains Mono"/>
                <a:cs typeface="JetBrains Mono"/>
                <a:sym typeface="JetBrains Mono"/>
              </a:rPr>
              <a:t>loops</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These building blocks are the fundamentals of programming. In the context of </a:t>
            </a:r>
            <a:r>
              <a:rPr i="1" lang="en">
                <a:solidFill>
                  <a:schemeClr val="dk1"/>
                </a:solidFill>
                <a:latin typeface="JetBrains Mono"/>
                <a:ea typeface="JetBrains Mono"/>
                <a:cs typeface="JetBrains Mono"/>
                <a:sym typeface="JetBrains Mono"/>
              </a:rPr>
              <a:t>Scratch</a:t>
            </a:r>
            <a:r>
              <a:rPr lang="en">
                <a:solidFill>
                  <a:schemeClr val="dk1"/>
                </a:solidFill>
                <a:latin typeface="JetBrains Mono"/>
                <a:ea typeface="JetBrains Mono"/>
                <a:cs typeface="JetBrains Mono"/>
                <a:sym typeface="JetBrains Mono"/>
              </a:rPr>
              <a:t>, which is discussed below, we will use each of the above basic building blocks of programming.</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a:solidFill>
                <a:schemeClr val="dk1"/>
              </a:solidFill>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7" name="Shape 207"/>
        <p:cNvGrpSpPr/>
        <p:nvPr/>
      </p:nvGrpSpPr>
      <p:grpSpPr>
        <a:xfrm>
          <a:off x="0" y="0"/>
          <a:ext cx="0" cy="0"/>
          <a:chOff x="0" y="0"/>
          <a:chExt cx="0" cy="0"/>
        </a:xfrm>
      </p:grpSpPr>
      <p:sp>
        <p:nvSpPr>
          <p:cNvPr id="208" name="Google Shape;208;p44"/>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DEE2E6"/>
                </a:solidFill>
                <a:latin typeface="JetBrains Mono"/>
                <a:ea typeface="JetBrains Mono"/>
                <a:cs typeface="JetBrains Mono"/>
                <a:sym typeface="JetBrains Mono"/>
              </a:rPr>
              <a:t>You will be learning this week about Scratch, a visual programming language. Then, in future weeks, you will learn about C. That will look something like this:</a:t>
            </a:r>
            <a:endParaRPr sz="1300">
              <a:solidFill>
                <a:srgbClr val="DEE2E6"/>
              </a:solidFill>
              <a:latin typeface="JetBrains Mono"/>
              <a:ea typeface="JetBrains Mono"/>
              <a:cs typeface="JetBrains Mono"/>
              <a:sym typeface="JetBrains Mono"/>
            </a:endParaRPr>
          </a:p>
          <a:p>
            <a:pPr indent="457200" lvl="0" marL="0" rtl="0" algn="l">
              <a:lnSpc>
                <a:spcPct val="115000"/>
              </a:lnSpc>
              <a:spcBef>
                <a:spcPts val="1200"/>
              </a:spcBef>
              <a:spcAft>
                <a:spcPts val="0"/>
              </a:spcAft>
              <a:buNone/>
            </a:pPr>
            <a:r>
              <a:rPr b="1" i="1" lang="en" sz="1300">
                <a:solidFill>
                  <a:srgbClr val="8B949E"/>
                </a:solidFill>
                <a:latin typeface="JetBrains Mono"/>
                <a:ea typeface="JetBrains Mono"/>
                <a:cs typeface="JetBrains Mono"/>
                <a:sym typeface="JetBrains Mono"/>
              </a:rPr>
              <a:t>#include</a:t>
            </a:r>
            <a:r>
              <a:rPr lang="en" sz="1300">
                <a:solidFill>
                  <a:srgbClr val="E6EDF3"/>
                </a:solidFill>
                <a:latin typeface="JetBrains Mono"/>
                <a:ea typeface="JetBrains Mono"/>
                <a:cs typeface="JetBrains Mono"/>
                <a:sym typeface="JetBrains Mono"/>
              </a:rPr>
              <a:t> </a:t>
            </a:r>
            <a:r>
              <a:rPr i="1" lang="en" sz="1300">
                <a:solidFill>
                  <a:srgbClr val="8B949E"/>
                </a:solidFill>
                <a:latin typeface="JetBrains Mono"/>
                <a:ea typeface="JetBrains Mono"/>
                <a:cs typeface="JetBrains Mono"/>
                <a:sym typeface="JetBrains Mono"/>
              </a:rPr>
              <a:t>&lt;stdio.h&gt;</a:t>
            </a:r>
            <a:endParaRPr sz="1300">
              <a:solidFill>
                <a:srgbClr val="E6EDF3"/>
              </a:solidFill>
              <a:latin typeface="JetBrains Mono"/>
              <a:ea typeface="JetBrains Mono"/>
              <a:cs typeface="JetBrains Mono"/>
              <a:sym typeface="JetBrains Mono"/>
            </a:endParaRPr>
          </a:p>
          <a:p>
            <a:pPr indent="0" lvl="0" marL="457200" rtl="0" algn="l">
              <a:lnSpc>
                <a:spcPct val="115000"/>
              </a:lnSpc>
              <a:spcBef>
                <a:spcPts val="1200"/>
              </a:spcBef>
              <a:spcAft>
                <a:spcPts val="0"/>
              </a:spcAft>
              <a:buNone/>
            </a:pPr>
            <a:r>
              <a:rPr lang="en" sz="1300">
                <a:solidFill>
                  <a:srgbClr val="FF7B72"/>
                </a:solidFill>
                <a:latin typeface="JetBrains Mono"/>
                <a:ea typeface="JetBrains Mono"/>
                <a:cs typeface="JetBrains Mono"/>
                <a:sym typeface="JetBrains Mono"/>
              </a:rPr>
              <a:t>int</a:t>
            </a:r>
            <a:r>
              <a:rPr lang="en" sz="1300">
                <a:solidFill>
                  <a:srgbClr val="E6EDF3"/>
                </a:solidFill>
                <a:latin typeface="JetBrains Mono"/>
                <a:ea typeface="JetBrains Mono"/>
                <a:cs typeface="JetBrains Mono"/>
                <a:sym typeface="JetBrains Mono"/>
              </a:rPr>
              <a:t> </a:t>
            </a:r>
            <a:r>
              <a:rPr b="1" lang="en" sz="1300">
                <a:solidFill>
                  <a:srgbClr val="D2A8FF"/>
                </a:solidFill>
                <a:latin typeface="JetBrains Mono"/>
                <a:ea typeface="JetBrains Mono"/>
                <a:cs typeface="JetBrains Mono"/>
                <a:sym typeface="JetBrains Mono"/>
              </a:rPr>
              <a:t>main</a:t>
            </a:r>
            <a:r>
              <a:rPr lang="en" sz="1300">
                <a:solidFill>
                  <a:srgbClr val="E6EDF3"/>
                </a:solidFill>
                <a:latin typeface="JetBrains Mono"/>
                <a:ea typeface="JetBrains Mono"/>
                <a:cs typeface="JetBrains Mono"/>
                <a:sym typeface="JetBrains Mono"/>
              </a:rPr>
              <a:t>(</a:t>
            </a:r>
            <a:r>
              <a:rPr lang="en" sz="1300">
                <a:solidFill>
                  <a:srgbClr val="FF7B72"/>
                </a:solidFill>
                <a:latin typeface="JetBrains Mono"/>
                <a:ea typeface="JetBrains Mono"/>
                <a:cs typeface="JetBrains Mono"/>
                <a:sym typeface="JetBrains Mono"/>
              </a:rPr>
              <a:t>void</a:t>
            </a:r>
            <a:r>
              <a:rPr lang="en" sz="1300">
                <a:solidFill>
                  <a:srgbClr val="E6EDF3"/>
                </a:solidFill>
                <a:latin typeface="JetBrains Mono"/>
                <a:ea typeface="JetBrains Mono"/>
                <a:cs typeface="JetBrains Mono"/>
                <a:sym typeface="JetBrains Mono"/>
              </a:rPr>
              <a:t>)</a:t>
            </a:r>
            <a:endParaRPr sz="1300">
              <a:solidFill>
                <a:srgbClr val="E6EDF3"/>
              </a:solidFill>
              <a:latin typeface="JetBrains Mono"/>
              <a:ea typeface="JetBrains Mono"/>
              <a:cs typeface="JetBrains Mono"/>
              <a:sym typeface="JetBrains Mono"/>
            </a:endParaRPr>
          </a:p>
          <a:p>
            <a:pPr indent="457200" lvl="0" marL="0" rtl="0" algn="l">
              <a:lnSpc>
                <a:spcPct val="115000"/>
              </a:lnSpc>
              <a:spcBef>
                <a:spcPts val="1200"/>
              </a:spcBef>
              <a:spcAft>
                <a:spcPts val="0"/>
              </a:spcAft>
              <a:buNone/>
            </a:pPr>
            <a:r>
              <a:rPr lang="en" sz="1300">
                <a:solidFill>
                  <a:srgbClr val="E6EDF3"/>
                </a:solidFill>
                <a:latin typeface="JetBrains Mono"/>
                <a:ea typeface="JetBrains Mono"/>
                <a:cs typeface="JetBrains Mono"/>
                <a:sym typeface="JetBrains Mono"/>
              </a:rPr>
              <a:t>{</a:t>
            </a:r>
            <a:endParaRPr sz="1300">
              <a:solidFill>
                <a:srgbClr val="E6EDF3"/>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300">
                <a:solidFill>
                  <a:srgbClr val="E6EDF3"/>
                </a:solidFill>
                <a:latin typeface="JetBrains Mono"/>
                <a:ea typeface="JetBrains Mono"/>
                <a:cs typeface="JetBrains Mono"/>
                <a:sym typeface="JetBrains Mono"/>
              </a:rPr>
              <a:t>  		printf(</a:t>
            </a:r>
            <a:r>
              <a:rPr lang="en" sz="1300">
                <a:solidFill>
                  <a:srgbClr val="A5D6FF"/>
                </a:solidFill>
                <a:latin typeface="JetBrains Mono"/>
                <a:ea typeface="JetBrains Mono"/>
                <a:cs typeface="JetBrains Mono"/>
                <a:sym typeface="JetBrains Mono"/>
              </a:rPr>
              <a:t>"hello, world</a:t>
            </a:r>
            <a:r>
              <a:rPr lang="en" sz="1300">
                <a:solidFill>
                  <a:srgbClr val="79C0FF"/>
                </a:solidFill>
                <a:latin typeface="JetBrains Mono"/>
                <a:ea typeface="JetBrains Mono"/>
                <a:cs typeface="JetBrains Mono"/>
                <a:sym typeface="JetBrains Mono"/>
              </a:rPr>
              <a:t>\n</a:t>
            </a:r>
            <a:r>
              <a:rPr lang="en" sz="1300">
                <a:solidFill>
                  <a:srgbClr val="A5D6FF"/>
                </a:solidFill>
                <a:latin typeface="JetBrains Mono"/>
                <a:ea typeface="JetBrains Mono"/>
                <a:cs typeface="JetBrains Mono"/>
                <a:sym typeface="JetBrains Mono"/>
              </a:rPr>
              <a:t>"</a:t>
            </a:r>
            <a:r>
              <a:rPr lang="en" sz="1300">
                <a:solidFill>
                  <a:srgbClr val="E6EDF3"/>
                </a:solidFill>
                <a:latin typeface="JetBrains Mono"/>
                <a:ea typeface="JetBrains Mono"/>
                <a:cs typeface="JetBrains Mono"/>
                <a:sym typeface="JetBrains Mono"/>
              </a:rPr>
              <a:t>);</a:t>
            </a:r>
            <a:endParaRPr sz="1300">
              <a:solidFill>
                <a:srgbClr val="E6EDF3"/>
              </a:solidFill>
              <a:latin typeface="JetBrains Mono"/>
              <a:ea typeface="JetBrains Mono"/>
              <a:cs typeface="JetBrains Mono"/>
              <a:sym typeface="JetBrains Mono"/>
            </a:endParaRPr>
          </a:p>
          <a:p>
            <a:pPr indent="457200" lvl="0" marL="0" rtl="0" algn="l">
              <a:lnSpc>
                <a:spcPct val="115000"/>
              </a:lnSpc>
              <a:spcBef>
                <a:spcPts val="1200"/>
              </a:spcBef>
              <a:spcAft>
                <a:spcPts val="0"/>
              </a:spcAft>
              <a:buNone/>
            </a:pPr>
            <a:r>
              <a:rPr lang="en" sz="1300">
                <a:solidFill>
                  <a:srgbClr val="E6EDF3"/>
                </a:solidFill>
                <a:latin typeface="JetBrains Mono"/>
                <a:ea typeface="JetBrains Mono"/>
                <a:cs typeface="JetBrains Mono"/>
                <a:sym typeface="JetBrains Mono"/>
              </a:rPr>
              <a:t>}</a:t>
            </a:r>
            <a:endParaRPr sz="1300">
              <a:solidFill>
                <a:srgbClr val="E6EDF3"/>
              </a:solidFill>
              <a:latin typeface="JetBrains Mono"/>
              <a:ea typeface="JetBrains Mono"/>
              <a:cs typeface="JetBrains Mono"/>
              <a:sym typeface="JetBrains Mono"/>
            </a:endParaRPr>
          </a:p>
          <a:p>
            <a:pPr indent="-228600" lvl="0" marL="457200" rtl="0" algn="l">
              <a:lnSpc>
                <a:spcPct val="125000"/>
              </a:lnSpc>
              <a:spcBef>
                <a:spcPts val="1200"/>
              </a:spcBef>
              <a:spcAft>
                <a:spcPts val="0"/>
              </a:spcAft>
              <a:buClr>
                <a:srgbClr val="DEE2E6"/>
              </a:buClr>
              <a:buSzPts val="1300"/>
              <a:buFont typeface="JetBrains Mono"/>
              <a:buNone/>
            </a:pPr>
            <a:r>
              <a:t/>
            </a:r>
            <a:endParaRPr sz="1300">
              <a:solidFill>
                <a:srgbClr val="E6EDF3"/>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300">
                <a:solidFill>
                  <a:srgbClr val="DEE2E6"/>
                </a:solidFill>
                <a:latin typeface="JetBrains Mono"/>
                <a:ea typeface="JetBrains Mono"/>
                <a:cs typeface="JetBrains Mono"/>
                <a:sym typeface="JetBrains Mono"/>
              </a:rPr>
              <a:t>By learning C, you will be far more prepared for future learning in other programming languages like </a:t>
            </a:r>
            <a:r>
              <a:rPr i="1" lang="en" sz="1300">
                <a:solidFill>
                  <a:srgbClr val="DEE2E6"/>
                </a:solidFill>
                <a:latin typeface="JetBrains Mono"/>
                <a:ea typeface="JetBrains Mono"/>
                <a:cs typeface="JetBrains Mono"/>
                <a:sym typeface="JetBrains Mono"/>
              </a:rPr>
              <a:t>Python</a:t>
            </a:r>
            <a:r>
              <a:rPr lang="en" sz="1300">
                <a:solidFill>
                  <a:srgbClr val="DEE2E6"/>
                </a:solidFill>
                <a:latin typeface="JetBrains Mono"/>
                <a:ea typeface="JetBrains Mono"/>
                <a:cs typeface="JetBrains Mono"/>
                <a:sym typeface="JetBrains Mono"/>
              </a:rPr>
              <a:t>.</a:t>
            </a:r>
            <a:endParaRPr sz="1300">
              <a:solidFill>
                <a:srgbClr val="DEE2E6"/>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300">
                <a:solidFill>
                  <a:srgbClr val="DEE2E6"/>
                </a:solidFill>
                <a:latin typeface="JetBrains Mono"/>
                <a:ea typeface="JetBrains Mono"/>
                <a:cs typeface="JetBrains Mono"/>
                <a:sym typeface="JetBrains Mono"/>
              </a:rPr>
              <a:t>Notice how programmers have used </a:t>
            </a:r>
            <a:r>
              <a:rPr i="1" lang="en" sz="1300">
                <a:solidFill>
                  <a:srgbClr val="DEE2E6"/>
                </a:solidFill>
                <a:latin typeface="JetBrains Mono"/>
                <a:ea typeface="JetBrains Mono"/>
                <a:cs typeface="JetBrains Mono"/>
                <a:sym typeface="JetBrains Mono"/>
              </a:rPr>
              <a:t>abstraction</a:t>
            </a:r>
            <a:r>
              <a:rPr lang="en" sz="1300">
                <a:solidFill>
                  <a:srgbClr val="DEE2E6"/>
                </a:solidFill>
                <a:latin typeface="JetBrains Mono"/>
                <a:ea typeface="JetBrains Mono"/>
                <a:cs typeface="JetBrains Mono"/>
                <a:sym typeface="JetBrains Mono"/>
              </a:rPr>
              <a:t> to build off the work of other programmers. Rather than programming in ones and zeroes, programming languages were created to </a:t>
            </a:r>
            <a:r>
              <a:rPr i="1" lang="en" sz="1300">
                <a:solidFill>
                  <a:srgbClr val="DEE2E6"/>
                </a:solidFill>
                <a:latin typeface="JetBrains Mono"/>
                <a:ea typeface="JetBrains Mono"/>
                <a:cs typeface="JetBrains Mono"/>
                <a:sym typeface="JetBrains Mono"/>
              </a:rPr>
              <a:t>abstract away</a:t>
            </a:r>
            <a:r>
              <a:rPr lang="en" sz="1300">
                <a:solidFill>
                  <a:srgbClr val="DEE2E6"/>
                </a:solidFill>
                <a:latin typeface="JetBrains Mono"/>
                <a:ea typeface="JetBrains Mono"/>
                <a:cs typeface="JetBrains Mono"/>
                <a:sym typeface="JetBrains Mono"/>
              </a:rPr>
              <a:t> from the incredibly challenging task of programming in binary to more and more easy-to-use programming languages. We can stand on the shoulders of others!</a:t>
            </a:r>
            <a:endParaRPr sz="1300">
              <a:solidFill>
                <a:srgbClr val="DEE2E6"/>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sz="1300">
              <a:solidFill>
                <a:schemeClr val="dk1"/>
              </a:solidFill>
              <a:latin typeface="JetBrains Mono"/>
              <a:ea typeface="JetBrains Mono"/>
              <a:cs typeface="JetBrains Mono"/>
              <a:sym typeface="JetBrains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2" name="Shape 212"/>
        <p:cNvGrpSpPr/>
        <p:nvPr/>
      </p:nvGrpSpPr>
      <p:grpSpPr>
        <a:xfrm>
          <a:off x="0" y="0"/>
          <a:ext cx="0" cy="0"/>
          <a:chOff x="0" y="0"/>
          <a:chExt cx="0" cy="0"/>
        </a:xfrm>
      </p:grpSpPr>
      <p:sp>
        <p:nvSpPr>
          <p:cNvPr id="213" name="Google Shape;213;p45"/>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i="1" lang="en" sz="1800" u="sng">
                <a:solidFill>
                  <a:schemeClr val="dk1"/>
                </a:solidFill>
                <a:latin typeface="JetBrains Mono"/>
                <a:ea typeface="JetBrains Mono"/>
                <a:cs typeface="JetBrains Mono"/>
                <a:sym typeface="JetBrains Mono"/>
              </a:rPr>
              <a:t>Scratch</a:t>
            </a:r>
            <a:r>
              <a:rPr lang="en" sz="1800">
                <a:solidFill>
                  <a:schemeClr val="dk1"/>
                </a:solidFill>
                <a:latin typeface="JetBrains Mono"/>
                <a:ea typeface="JetBrains Mono"/>
                <a:cs typeface="JetBrains Mono"/>
                <a:sym typeface="JetBrains Mono"/>
              </a:rPr>
              <a:t> is a visual programming language developed by MIT.</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uFill>
                  <a:noFill/>
                </a:uFill>
                <a:latin typeface="JetBrains Mono"/>
                <a:ea typeface="JetBrains Mono"/>
                <a:cs typeface="JetBrains Mono"/>
                <a:sym typeface="JetBrains Mono"/>
                <a:hlinkClick r:id="rId3">
                  <a:extLst>
                    <a:ext uri="{A12FA001-AC4F-418D-AE19-62706E023703}">
                      <ahyp:hlinkClr val="tx"/>
                    </a:ext>
                  </a:extLst>
                </a:hlinkClick>
              </a:rPr>
              <a:t>Scratch</a:t>
            </a:r>
            <a:r>
              <a:rPr lang="en" sz="1800">
                <a:solidFill>
                  <a:schemeClr val="dk1"/>
                </a:solidFill>
                <a:latin typeface="JetBrains Mono"/>
                <a:ea typeface="JetBrains Mono"/>
                <a:cs typeface="JetBrains Mono"/>
                <a:sym typeface="JetBrains Mono"/>
              </a:rPr>
              <a:t> utilizes the same essential coding building blocks that we covered earlier in this lecture.</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Scratch is a great way to get into computer programming because it allows you to play with these building blocks in a visual manner, not having to be concerned about the syntax of curly braces, semicolons, parentheses, and the like.</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Scratch IDE (integrated development environment) looks like the following:</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1200"/>
              </a:spcAft>
              <a:buNone/>
            </a:pPr>
            <a:r>
              <a:t/>
            </a:r>
            <a:endParaRPr sz="1800">
              <a:solidFill>
                <a:schemeClr val="dk1"/>
              </a:solidFill>
              <a:latin typeface="JetBrains Mono"/>
              <a:ea typeface="JetBrains Mono"/>
              <a:cs typeface="JetBrains Mono"/>
              <a:sym typeface="JetBrains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7" name="Shape 217"/>
        <p:cNvGrpSpPr/>
        <p:nvPr/>
      </p:nvGrpSpPr>
      <p:grpSpPr>
        <a:xfrm>
          <a:off x="0" y="0"/>
          <a:ext cx="0" cy="0"/>
          <a:chOff x="0" y="0"/>
          <a:chExt cx="0" cy="0"/>
        </a:xfrm>
      </p:grpSpPr>
      <p:sp>
        <p:nvSpPr>
          <p:cNvPr id="218" name="Google Shape;218;p46"/>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228600" lvl="0" marL="457200" rtl="0" algn="l">
              <a:lnSpc>
                <a:spcPct val="115000"/>
              </a:lnSpc>
              <a:spcBef>
                <a:spcPts val="1200"/>
              </a:spcBef>
              <a:spcAft>
                <a:spcPts val="0"/>
              </a:spcAft>
              <a:buClr>
                <a:schemeClr val="dk1"/>
              </a:buClr>
              <a:buSzPts val="1400"/>
              <a:buFont typeface="JetBrains Mono"/>
              <a:buNone/>
            </a:pPr>
            <a:r>
              <a:t/>
            </a:r>
            <a:endParaRPr>
              <a:solidFill>
                <a:schemeClr val="dk1"/>
              </a:solidFill>
              <a:latin typeface="JetBrains Mono"/>
              <a:ea typeface="JetBrains Mono"/>
              <a:cs typeface="JetBrains Mono"/>
              <a:sym typeface="JetBrains Mono"/>
            </a:endParaRPr>
          </a:p>
          <a:p>
            <a:pPr indent="-228600" lvl="0" marL="457200" rtl="0" algn="l">
              <a:lnSpc>
                <a:spcPct val="115000"/>
              </a:lnSpc>
              <a:spcBef>
                <a:spcPts val="0"/>
              </a:spcBef>
              <a:spcAft>
                <a:spcPts val="0"/>
              </a:spcAft>
              <a:buClr>
                <a:schemeClr val="dk1"/>
              </a:buClr>
              <a:buSzPts val="1400"/>
              <a:buFont typeface="JetBrains Mono"/>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Notice that on the left, there is a palette of </a:t>
            </a:r>
            <a:r>
              <a:rPr i="1" lang="en">
                <a:solidFill>
                  <a:schemeClr val="dk1"/>
                </a:solidFill>
                <a:latin typeface="JetBrains Mono"/>
                <a:ea typeface="JetBrains Mono"/>
                <a:cs typeface="JetBrains Mono"/>
                <a:sym typeface="JetBrains Mono"/>
              </a:rPr>
              <a:t>building blocks</a:t>
            </a:r>
            <a:r>
              <a:rPr lang="en">
                <a:solidFill>
                  <a:schemeClr val="dk1"/>
                </a:solidFill>
                <a:latin typeface="JetBrains Mono"/>
                <a:ea typeface="JetBrains Mono"/>
                <a:cs typeface="JetBrains Mono"/>
                <a:sym typeface="JetBrains Mono"/>
              </a:rPr>
              <a:t> that you can use in your programming. To the immediate right of the building blocks, there is the area to which you can drag blocks to build a program. To the right of that, you see the </a:t>
            </a:r>
            <a:r>
              <a:rPr i="1" lang="en">
                <a:solidFill>
                  <a:schemeClr val="dk1"/>
                </a:solidFill>
                <a:latin typeface="JetBrains Mono"/>
                <a:ea typeface="JetBrains Mono"/>
                <a:cs typeface="JetBrains Mono"/>
                <a:sym typeface="JetBrains Mono"/>
              </a:rPr>
              <a:t>stage</a:t>
            </a:r>
            <a:r>
              <a:rPr lang="en">
                <a:solidFill>
                  <a:schemeClr val="dk1"/>
                </a:solidFill>
                <a:latin typeface="JetBrains Mono"/>
                <a:ea typeface="JetBrains Mono"/>
                <a:cs typeface="JetBrains Mono"/>
                <a:sym typeface="JetBrains Mono"/>
              </a:rPr>
              <a:t> where a cat stands. The stage is where your programming comes to life.</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rPr lang="en">
                <a:solidFill>
                  <a:schemeClr val="dk1"/>
                </a:solidFill>
                <a:latin typeface="JetBrains Mono"/>
                <a:ea typeface="JetBrains Mono"/>
                <a:cs typeface="JetBrains Mono"/>
                <a:sym typeface="JetBrains Mono"/>
              </a:rPr>
              <a:t>Scratch operates on a coordinate system as follows:</a:t>
            </a:r>
            <a:endParaRPr>
              <a:solidFill>
                <a:schemeClr val="dk1"/>
              </a:solidFill>
              <a:latin typeface="JetBrains Mono"/>
              <a:ea typeface="JetBrains Mono"/>
              <a:cs typeface="JetBrains Mono"/>
              <a:sym typeface="JetBrains Mono"/>
            </a:endParaRPr>
          </a:p>
        </p:txBody>
      </p:sp>
      <p:pic>
        <p:nvPicPr>
          <p:cNvPr id="219" name="Google Shape;219;p46"/>
          <p:cNvPicPr preferRelativeResize="0"/>
          <p:nvPr/>
        </p:nvPicPr>
        <p:blipFill>
          <a:blip r:embed="rId3">
            <a:alphaModFix/>
          </a:blip>
          <a:stretch>
            <a:fillRect/>
          </a:stretch>
        </p:blipFill>
        <p:spPr>
          <a:xfrm>
            <a:off x="2093550" y="188175"/>
            <a:ext cx="4956900" cy="2788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3" name="Shape 223"/>
        <p:cNvGrpSpPr/>
        <p:nvPr/>
      </p:nvGrpSpPr>
      <p:grpSpPr>
        <a:xfrm>
          <a:off x="0" y="0"/>
          <a:ext cx="0" cy="0"/>
          <a:chOff x="0" y="0"/>
          <a:chExt cx="0" cy="0"/>
        </a:xfrm>
      </p:grpSpPr>
      <p:sp>
        <p:nvSpPr>
          <p:cNvPr id="224" name="Google Shape;224;p47"/>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Clr>
                <a:schemeClr val="dk1"/>
              </a:buClr>
              <a:buSzPts val="1800"/>
              <a:buFont typeface="Roboto Mono"/>
              <a:buNone/>
            </a:pPr>
            <a:r>
              <a:t/>
            </a:r>
            <a:endParaRPr sz="1800">
              <a:solidFill>
                <a:schemeClr val="dk1"/>
              </a:solidFill>
              <a:latin typeface="Roboto Mono"/>
              <a:ea typeface="Roboto Mono"/>
              <a:cs typeface="Roboto Mono"/>
              <a:sym typeface="Roboto Mono"/>
            </a:endParaRPr>
          </a:p>
          <a:p>
            <a:pPr indent="0" lvl="0" marL="0" rtl="0" algn="l">
              <a:lnSpc>
                <a:spcPct val="115000"/>
              </a:lnSpc>
              <a:spcBef>
                <a:spcPts val="1200"/>
              </a:spcBef>
              <a:spcAft>
                <a:spcPts val="1200"/>
              </a:spcAft>
              <a:buNone/>
            </a:pPr>
            <a:r>
              <a:t/>
            </a:r>
            <a:endParaRPr i="1" sz="1800">
              <a:solidFill>
                <a:schemeClr val="dk1"/>
              </a:solidFill>
              <a:latin typeface="Roboto Mono"/>
              <a:ea typeface="Roboto Mono"/>
              <a:cs typeface="Roboto Mono"/>
              <a:sym typeface="Roboto Mono"/>
            </a:endParaRPr>
          </a:p>
        </p:txBody>
      </p:sp>
      <p:pic>
        <p:nvPicPr>
          <p:cNvPr id="225" name="Google Shape;225;p47"/>
          <p:cNvPicPr preferRelativeResize="0"/>
          <p:nvPr/>
        </p:nvPicPr>
        <p:blipFill>
          <a:blip r:embed="rId3">
            <a:alphaModFix/>
          </a:blip>
          <a:stretch>
            <a:fillRect/>
          </a:stretch>
        </p:blipFill>
        <p:spPr>
          <a:xfrm>
            <a:off x="0" y="0"/>
            <a:ext cx="9256730" cy="5206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9" name="Shape 229"/>
        <p:cNvGrpSpPr/>
        <p:nvPr/>
      </p:nvGrpSpPr>
      <p:grpSpPr>
        <a:xfrm>
          <a:off x="0" y="0"/>
          <a:ext cx="0" cy="0"/>
          <a:chOff x="0" y="0"/>
          <a:chExt cx="0" cy="0"/>
        </a:xfrm>
      </p:grpSpPr>
      <p:sp>
        <p:nvSpPr>
          <p:cNvPr id="230" name="Google Shape;230;p48"/>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400">
                <a:solidFill>
                  <a:schemeClr val="dk1"/>
                </a:solidFill>
                <a:latin typeface="JetBrains Mono"/>
                <a:ea typeface="JetBrains Mono"/>
                <a:cs typeface="JetBrains Mono"/>
                <a:sym typeface="JetBrains Mono"/>
              </a:rPr>
              <a:t>Now lets watch David Malan do it</a:t>
            </a:r>
            <a:endParaRPr i="1" sz="4400">
              <a:solidFill>
                <a:schemeClr val="dk1"/>
              </a:solidFill>
              <a:latin typeface="JetBrains Mono"/>
              <a:ea typeface="JetBrains Mono"/>
              <a:cs typeface="JetBrains Mono"/>
              <a:sym typeface="JetBrains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4" name="Shape 234"/>
        <p:cNvGrpSpPr/>
        <p:nvPr/>
      </p:nvGrpSpPr>
      <p:grpSpPr>
        <a:xfrm>
          <a:off x="0" y="0"/>
          <a:ext cx="0" cy="0"/>
          <a:chOff x="0" y="0"/>
          <a:chExt cx="0" cy="0"/>
        </a:xfrm>
      </p:grpSpPr>
      <p:sp>
        <p:nvSpPr>
          <p:cNvPr id="235" name="Google Shape;235;p49"/>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400">
                <a:solidFill>
                  <a:schemeClr val="dk1"/>
                </a:solidFill>
                <a:latin typeface="Roboto Mono"/>
                <a:ea typeface="Roboto Mono"/>
                <a:cs typeface="Roboto Mono"/>
                <a:sym typeface="Roboto Mono"/>
              </a:rPr>
              <a:t>Now lets watch David Malan do it</a:t>
            </a:r>
            <a:endParaRPr i="1" sz="4400">
              <a:solidFill>
                <a:schemeClr val="dk1"/>
              </a:solidFill>
              <a:latin typeface="Roboto Mono"/>
              <a:ea typeface="Roboto Mono"/>
              <a:cs typeface="Roboto Mono"/>
              <a:sym typeface="Roboto Mono"/>
            </a:endParaRPr>
          </a:p>
        </p:txBody>
      </p:sp>
      <p:pic>
        <p:nvPicPr>
          <p:cNvPr descr="Assista a esta palestra em português em https://youtu.be/GHZzYAy4NKA, graças ao lingopal.ai.&#10;Mira esta conferencia en español en https://youtu.be/nfYOp3_SyqM, gracias a lingopal.ai.&#10;&#10;***&#10;&#10;This is CS50, Harvard University's introduction to the intellectual enterprises of computer science and the art of programming.&#10;&#10;*** &#10;&#10;TABLE OF CONTENTS&#10;00:00:00 - Introduction  &#10;00:02:03 - This is CS50&#10;00:02:24 - Artificial Intelligence&#10;00:14:12 - Computer Science&#10;00:15:36 - Unary&#10;00:16:06 - Binary&#10;00:29:46 - ASCII&#10;00:40:52 - Unicode&#10;00:44:57 - Color&#10;00:50:17 - Representation&#10;00:55:23 - Algorithms&#10;01:04:45 - Pseudocode&#10;01:14:09 - Scratch&#10;01:18:15 - Hello, World&#10;01:21:21 - Hello, You&#10;01:30:20 - Meow&#10;01:33:51 - Abstractions&#10;01:37:55 - Conditionals&#10;01:40:05 - Oscartime&#10;01:51:59 - Ivy’s Hardest Game&#10;&#10;***&#10;&#10;HOW TO SUBSCRIBE&#10;&#10;http://www.youtube.com/subscription_center?add_user=cs50tv&#10;&#10;HOW TO TAKE CS50&#10;&#10;edX: https://cs50.edx.org/&#10;Harvard Extension School: https://cs50.harvard.edu/extension&#10;Harvard Summer School: https://cs50.harvard.edu/summer&#10;OpenCourseWare: https://cs50.harvard.edu/x&#10;&#10;HOW TO JOIN CS50 COMMUNITIES&#10;&#10;Bluesky: https://bsky.app/profile/cs50.harvard.edu&#10;Discord: https://discord.gg/cs50&#10;Ed: https://cs50.edx.org/ed&#10;Facebook Group: https://www.facebook.com/groups/cs50/&#10;Faceboook Page: https://www.facebook.com/cs50/&#10;GitHub: https://github.com/cs50&#10;Gitter: https://gitter.im/cs50/x&#10;Instagram: https://instagram.com/cs50&#10;LinkedIn Group: https://www.linkedin.com/groups/7437240/&#10;LinkedIn Page: https://www.linkedin.com/school/cs50/&#10;Medium: https://cs50.medium.com/&#10;Quora: https://www.quora.com/topic/CS50&#10;Reddit: https://www.reddit.com/r/cs50/&#10;Slack: https://cs50.edx.org/slack&#10;Snapchat: https://www.snapchat.com/add/cs50&#10;SoundCloud: https://soundcloud.com/cs50&#10;Stack Exchange: https://cs50.stackexchange.com/&#10;Telegram: https://t.me/cs50x&#10;Threads: https://www.threads.net/@cs50&#10;TikTok: https://www.tiktok.com/@cs50&#10;Twitter: https://twitter.com/cs50&#10;Twitter Community: https://twitter.com/i/communities/1722308663522594923&#10;YouTube: http://www.youtube.com/cs50&#10;&#10;HOW TO FOLLOW DAVID J. MALAN&#10;&#10;Facebook: https://www.facebook.com/dmalan&#10;GitHub: https://github.com/dmalan&#10;Instagram: https://www.instagram.com/davidjmalan/&#10;LinkedIn: https://www.linkedin.com/in/malan/&#10;Quora: https://www.quora.com/profile/David-J-Malan&#10;Threads: https://www.threads.net/@davidjmalan&#10;TikTok: https://www.tiktok.com/@davidjmalan&#10;Twitter: https://twitter.com/davidjmalan&#10;&#10;***&#10;&#10;CS50 SHOP&#10;&#10;https://cs50.harvardshop.com/&#10;&#10;***&#10;&#10;LICENSE&#10;&#10;CC BY-NC-SA 4.0&#10;Creative Commons Attribution-NonCommercial-ShareAlike 4.0 International Public License&#10;https://creativecommons.org/licenses/by-nc-sa/4.0/&#10;&#10;David J. Malan&#10;https://cs.harvard.edu/malan&#10;malan@harvard.edu" id="236" name="Google Shape;236;p49" title="CS50x - Lecture 0 - Scratch">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0" name="Shape 240"/>
        <p:cNvGrpSpPr/>
        <p:nvPr/>
      </p:nvGrpSpPr>
      <p:grpSpPr>
        <a:xfrm>
          <a:off x="0" y="0"/>
          <a:ext cx="0" cy="0"/>
          <a:chOff x="0" y="0"/>
          <a:chExt cx="0" cy="0"/>
        </a:xfrm>
      </p:grpSpPr>
      <p:sp>
        <p:nvSpPr>
          <p:cNvPr id="241" name="Google Shape;241;p50"/>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We can make your program more interactive by having the cat say hello to someone specific. We do that with this code.</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Notice that when the green flag is clicked, the function ask is run. The program prompts you, the user, What's your name? It then stores that name in the </a:t>
            </a:r>
            <a:r>
              <a:rPr i="1" lang="en">
                <a:solidFill>
                  <a:schemeClr val="dk1"/>
                </a:solidFill>
                <a:latin typeface="JetBrains Mono"/>
                <a:ea typeface="JetBrains Mono"/>
                <a:cs typeface="JetBrains Mono"/>
                <a:sym typeface="JetBrains Mono"/>
              </a:rPr>
              <a:t>variable</a:t>
            </a:r>
            <a:r>
              <a:rPr lang="en">
                <a:solidFill>
                  <a:schemeClr val="dk1"/>
                </a:solidFill>
                <a:latin typeface="JetBrains Mono"/>
                <a:ea typeface="JetBrains Mono"/>
                <a:cs typeface="JetBrains Mono"/>
                <a:sym typeface="JetBrains Mono"/>
              </a:rPr>
              <a:t> called answer. The program then passes answer to a special function called join, which combines two strings of text hello, and whatever name was provided. The value of answer is passed as an argument to join. These collectively are passed to the say function. The cat says, Hello, and a name. Your program is now interactive.</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a:solidFill>
                  <a:schemeClr val="dk1"/>
                </a:solidFill>
                <a:latin typeface="JetBrains Mono"/>
                <a:ea typeface="JetBrains Mono"/>
                <a:cs typeface="JetBrains Mono"/>
                <a:sym typeface="JetBrains Mono"/>
              </a:rPr>
              <a:t>Throughout this course, you will be providing inputs into an algorithm and getting outputs. This can be pictured in terms of the above program as follows:</a:t>
            </a:r>
            <a:endParaRPr>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a:solidFill>
                <a:schemeClr val="dk1"/>
              </a:solidFill>
              <a:latin typeface="JetBrains Mono"/>
              <a:ea typeface="JetBrains Mono"/>
              <a:cs typeface="JetBrains Mono"/>
              <a:sym typeface="JetBrains Mono"/>
            </a:endParaRPr>
          </a:p>
        </p:txBody>
      </p:sp>
      <p:pic>
        <p:nvPicPr>
          <p:cNvPr id="242" name="Google Shape;242;p50"/>
          <p:cNvPicPr preferRelativeResize="0"/>
          <p:nvPr/>
        </p:nvPicPr>
        <p:blipFill>
          <a:blip r:embed="rId3">
            <a:alphaModFix/>
          </a:blip>
          <a:stretch>
            <a:fillRect/>
          </a:stretch>
        </p:blipFill>
        <p:spPr>
          <a:xfrm>
            <a:off x="3631759" y="860950"/>
            <a:ext cx="1867875" cy="1101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6" name="Shape 246"/>
        <p:cNvGrpSpPr/>
        <p:nvPr/>
      </p:nvGrpSpPr>
      <p:grpSpPr>
        <a:xfrm>
          <a:off x="0" y="0"/>
          <a:ext cx="0" cy="0"/>
          <a:chOff x="0" y="0"/>
          <a:chExt cx="0" cy="0"/>
        </a:xfrm>
      </p:grpSpPr>
      <p:sp>
        <p:nvSpPr>
          <p:cNvPr id="247" name="Google Shape;247;p51"/>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Roboto Mono"/>
                <a:ea typeface="Roboto Mono"/>
                <a:cs typeface="Roboto Mono"/>
                <a:sym typeface="Roboto Mono"/>
              </a:rPr>
              <a:t>We can make your program more interactive by having the cat say hello to someone specific. We do that with this code.</a:t>
            </a:r>
            <a:endParaRPr>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solidFill>
                <a:schemeClr val="dk1"/>
              </a:solidFill>
              <a:latin typeface="Roboto Mono"/>
              <a:ea typeface="Roboto Mono"/>
              <a:cs typeface="Roboto Mono"/>
              <a:sym typeface="Roboto Mono"/>
            </a:endParaRPr>
          </a:p>
          <a:p>
            <a:pPr indent="-228600" lvl="0" marL="457200" rtl="0" algn="l">
              <a:lnSpc>
                <a:spcPct val="115000"/>
              </a:lnSpc>
              <a:spcBef>
                <a:spcPts val="1200"/>
              </a:spcBef>
              <a:spcAft>
                <a:spcPts val="0"/>
              </a:spcAft>
              <a:buClr>
                <a:schemeClr val="dk1"/>
              </a:buClr>
              <a:buSzPts val="1400"/>
              <a:buNone/>
            </a:pPr>
            <a:r>
              <a:rPr lang="en">
                <a:solidFill>
                  <a:schemeClr val="dk1"/>
                </a:solidFill>
                <a:latin typeface="Roboto Mono"/>
                <a:ea typeface="Roboto Mono"/>
                <a:cs typeface="Roboto Mono"/>
                <a:sym typeface="Roboto Mono"/>
              </a:rPr>
              <a:t>Notice that when the green flag is clicked, the function ask is run. The program prompts you, the user, What's your name? It then stores that name in the </a:t>
            </a:r>
            <a:r>
              <a:rPr i="1" lang="en">
                <a:solidFill>
                  <a:schemeClr val="dk1"/>
                </a:solidFill>
                <a:latin typeface="Roboto Mono"/>
                <a:ea typeface="Roboto Mono"/>
                <a:cs typeface="Roboto Mono"/>
                <a:sym typeface="Roboto Mono"/>
              </a:rPr>
              <a:t>variable</a:t>
            </a:r>
            <a:r>
              <a:rPr lang="en">
                <a:solidFill>
                  <a:schemeClr val="dk1"/>
                </a:solidFill>
                <a:latin typeface="Roboto Mono"/>
                <a:ea typeface="Roboto Mono"/>
                <a:cs typeface="Roboto Mono"/>
                <a:sym typeface="Roboto Mono"/>
              </a:rPr>
              <a:t> called answer. The program then passes answer to a special function called join, which combines two strings of text hello, and whatever name was provided. The value of answer is passed as an argument to join. These collectively are passed to the say function. The cat says, Hello, and a name. Your program is now interactive.</a:t>
            </a:r>
            <a:endParaRPr>
              <a:solidFill>
                <a:schemeClr val="dk1"/>
              </a:solidFill>
              <a:latin typeface="Roboto Mono"/>
              <a:ea typeface="Roboto Mono"/>
              <a:cs typeface="Roboto Mono"/>
              <a:sym typeface="Roboto Mono"/>
            </a:endParaRPr>
          </a:p>
          <a:p>
            <a:pPr indent="-228600" lvl="0" marL="457200" rtl="0" algn="l">
              <a:lnSpc>
                <a:spcPct val="115000"/>
              </a:lnSpc>
              <a:spcBef>
                <a:spcPts val="0"/>
              </a:spcBef>
              <a:spcAft>
                <a:spcPts val="0"/>
              </a:spcAft>
              <a:buClr>
                <a:schemeClr val="dk1"/>
              </a:buClr>
              <a:buSzPts val="1400"/>
              <a:buFont typeface="Roboto Mono"/>
              <a:buNone/>
            </a:pPr>
            <a:r>
              <a:rPr lang="en">
                <a:solidFill>
                  <a:schemeClr val="dk1"/>
                </a:solidFill>
                <a:latin typeface="Roboto Mono"/>
                <a:ea typeface="Roboto Mono"/>
                <a:cs typeface="Roboto Mono"/>
                <a:sym typeface="Roboto Mono"/>
              </a:rPr>
              <a:t>Throughout this course, you will be providing inputs into an algorithm and getting outputs. This can be pictured in terms of the above program as follows:</a:t>
            </a:r>
            <a:endParaRPr>
              <a:solidFill>
                <a:schemeClr val="dk1"/>
              </a:solidFill>
              <a:latin typeface="Roboto Mono"/>
              <a:ea typeface="Roboto Mono"/>
              <a:cs typeface="Roboto Mono"/>
              <a:sym typeface="Roboto Mono"/>
            </a:endParaRPr>
          </a:p>
          <a:p>
            <a:pPr indent="0" lvl="0" marL="0" rtl="0" algn="l">
              <a:lnSpc>
                <a:spcPct val="115000"/>
              </a:lnSpc>
              <a:spcBef>
                <a:spcPts val="1200"/>
              </a:spcBef>
              <a:spcAft>
                <a:spcPts val="1200"/>
              </a:spcAft>
              <a:buNone/>
            </a:pPr>
            <a:r>
              <a:t/>
            </a:r>
            <a:endParaRPr>
              <a:solidFill>
                <a:schemeClr val="dk1"/>
              </a:solidFill>
              <a:latin typeface="Roboto Mono"/>
              <a:ea typeface="Roboto Mono"/>
              <a:cs typeface="Roboto Mono"/>
              <a:sym typeface="Roboto Mono"/>
            </a:endParaRPr>
          </a:p>
        </p:txBody>
      </p:sp>
      <p:pic>
        <p:nvPicPr>
          <p:cNvPr id="248" name="Google Shape;248;p51"/>
          <p:cNvPicPr preferRelativeResize="0"/>
          <p:nvPr/>
        </p:nvPicPr>
        <p:blipFill>
          <a:blip r:embed="rId3">
            <a:alphaModFix/>
          </a:blip>
          <a:stretch>
            <a:fillRect/>
          </a:stretch>
        </p:blipFill>
        <p:spPr>
          <a:xfrm>
            <a:off x="3567100" y="822288"/>
            <a:ext cx="2009775" cy="1190625"/>
          </a:xfrm>
          <a:prstGeom prst="rect">
            <a:avLst/>
          </a:prstGeom>
          <a:noFill/>
          <a:ln>
            <a:noFill/>
          </a:ln>
        </p:spPr>
      </p:pic>
      <p:pic>
        <p:nvPicPr>
          <p:cNvPr id="249" name="Google Shape;249;p51"/>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3" name="Shape 253"/>
        <p:cNvGrpSpPr/>
        <p:nvPr/>
      </p:nvGrpSpPr>
      <p:grpSpPr>
        <a:xfrm>
          <a:off x="0" y="0"/>
          <a:ext cx="0" cy="0"/>
          <a:chOff x="0" y="0"/>
          <a:chExt cx="0" cy="0"/>
        </a:xfrm>
      </p:grpSpPr>
      <p:sp>
        <p:nvSpPr>
          <p:cNvPr id="254" name="Google Shape;254;p52"/>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1800">
                <a:solidFill>
                  <a:schemeClr val="dk1"/>
                </a:solidFill>
                <a:latin typeface="JetBrains Mono"/>
                <a:ea typeface="JetBrains Mono"/>
                <a:cs typeface="JetBrains Mono"/>
                <a:sym typeface="JetBrains Mono"/>
              </a:rPr>
              <a:t>Conditionals</a:t>
            </a:r>
            <a:r>
              <a:rPr lang="en" sz="1800">
                <a:solidFill>
                  <a:schemeClr val="dk1"/>
                </a:solidFill>
                <a:latin typeface="JetBrains Mono"/>
                <a:ea typeface="JetBrains Mono"/>
                <a:cs typeface="JetBrains Mono"/>
                <a:sym typeface="JetBrains Mono"/>
              </a:rPr>
              <a:t> are an essential building block of programming, where the program looks to see if a specific condition has been met. If a condition is met, the program does something.</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0"/>
              </a:spcAft>
              <a:buNone/>
            </a:pPr>
            <a:r>
              <a:rPr lang="en" sz="1800">
                <a:solidFill>
                  <a:schemeClr val="dk1"/>
                </a:solidFill>
                <a:latin typeface="JetBrains Mono"/>
                <a:ea typeface="JetBrains Mono"/>
                <a:cs typeface="JetBrains Mono"/>
                <a:sym typeface="JetBrains Mono"/>
              </a:rPr>
              <a:t>To illustrate a conditional, write code as follows:</a:t>
            </a:r>
            <a:endParaRPr sz="18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t/>
            </a:r>
            <a:endParaRPr sz="1800">
              <a:solidFill>
                <a:schemeClr val="dk1"/>
              </a:solidFill>
              <a:latin typeface="JetBrains Mono"/>
              <a:ea typeface="JetBrains Mono"/>
              <a:cs typeface="JetBrains Mono"/>
              <a:sym typeface="JetBrains Mono"/>
            </a:endParaRPr>
          </a:p>
        </p:txBody>
      </p:sp>
      <p:pic>
        <p:nvPicPr>
          <p:cNvPr id="255" name="Google Shape;255;p52"/>
          <p:cNvPicPr preferRelativeResize="0"/>
          <p:nvPr/>
        </p:nvPicPr>
        <p:blipFill>
          <a:blip r:embed="rId3">
            <a:alphaModFix/>
          </a:blip>
          <a:stretch>
            <a:fillRect/>
          </a:stretch>
        </p:blipFill>
        <p:spPr>
          <a:xfrm>
            <a:off x="2358725" y="1837750"/>
            <a:ext cx="4377425" cy="3135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9" name="Shape 259"/>
        <p:cNvGrpSpPr/>
        <p:nvPr/>
      </p:nvGrpSpPr>
      <p:grpSpPr>
        <a:xfrm>
          <a:off x="0" y="0"/>
          <a:ext cx="0" cy="0"/>
          <a:chOff x="0" y="0"/>
          <a:chExt cx="0" cy="0"/>
        </a:xfrm>
      </p:grpSpPr>
      <p:sp>
        <p:nvSpPr>
          <p:cNvPr id="260" name="Google Shape;260;p53"/>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100">
                <a:solidFill>
                  <a:schemeClr val="dk1"/>
                </a:solidFill>
                <a:latin typeface="JetBrains Mono"/>
                <a:ea typeface="JetBrains Mono"/>
                <a:cs typeface="JetBrains Mono"/>
                <a:sym typeface="JetBrains Mono"/>
              </a:rPr>
              <a:t>Ok we are almost done now we have to do some examples </a:t>
            </a:r>
            <a:endParaRPr sz="4100">
              <a:solidFill>
                <a:schemeClr val="dk1"/>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4" name="Shape 264"/>
        <p:cNvGrpSpPr/>
        <p:nvPr/>
      </p:nvGrpSpPr>
      <p:grpSpPr>
        <a:xfrm>
          <a:off x="0" y="0"/>
          <a:ext cx="0" cy="0"/>
          <a:chOff x="0" y="0"/>
          <a:chExt cx="0" cy="0"/>
        </a:xfrm>
      </p:grpSpPr>
      <p:sp>
        <p:nvSpPr>
          <p:cNvPr id="265" name="Google Shape;265;p54"/>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100">
                <a:solidFill>
                  <a:schemeClr val="dk1"/>
                </a:solidFill>
                <a:latin typeface="Roboto Mono"/>
                <a:ea typeface="Roboto Mono"/>
                <a:cs typeface="Roboto Mono"/>
                <a:sym typeface="Roboto Mono"/>
              </a:rPr>
              <a:t>Ok we are almost done now we have to do some examples </a:t>
            </a:r>
            <a:endParaRPr sz="4100">
              <a:solidFill>
                <a:schemeClr val="dk1"/>
              </a:solidFill>
              <a:latin typeface="Roboto Mono"/>
              <a:ea typeface="Roboto Mono"/>
              <a:cs typeface="Roboto Mono"/>
              <a:sym typeface="Roboto Mono"/>
            </a:endParaRPr>
          </a:p>
        </p:txBody>
      </p:sp>
      <p:pic>
        <p:nvPicPr>
          <p:cNvPr descr="Assista a esta palestra em português em https://youtu.be/GHZzYAy4NKA, graças ao lingopal.ai.&#10;Mira esta conferencia en español en https://youtu.be/nfYOp3_SyqM, gracias a lingopal.ai.&#10;&#10;***&#10;&#10;This is CS50, Harvard University's introduction to the intellectual enterprises of computer science and the art of programming.&#10;&#10;*** &#10;&#10;TABLE OF CONTENTS&#10;00:00:00 - Introduction  &#10;00:02:03 - This is CS50&#10;00:02:24 - Artificial Intelligence&#10;00:14:12 - Computer Science&#10;00:15:36 - Unary&#10;00:16:06 - Binary&#10;00:29:46 - ASCII&#10;00:40:52 - Unicode&#10;00:44:57 - Color&#10;00:50:17 - Representation&#10;00:55:23 - Algorithms&#10;01:04:45 - Pseudocode&#10;01:14:09 - Scratch&#10;01:18:15 - Hello, World&#10;01:21:21 - Hello, You&#10;01:30:20 - Meow&#10;01:33:51 - Abstractions&#10;01:37:55 - Conditionals&#10;01:40:05 - Oscartime&#10;01:51:59 - Ivy’s Hardest Game&#10;&#10;***&#10;&#10;HOW TO SUBSCRIBE&#10;&#10;http://www.youtube.com/subscription_center?add_user=cs50tv&#10;&#10;HOW TO TAKE CS50&#10;&#10;edX: https://cs50.edx.org/&#10;Harvard Extension School: https://cs50.harvard.edu/extension&#10;Harvard Summer School: https://cs50.harvard.edu/summer&#10;OpenCourseWare: https://cs50.harvard.edu/x&#10;&#10;HOW TO JOIN CS50 COMMUNITIES&#10;&#10;Bluesky: https://bsky.app/profile/cs50.harvard.edu&#10;Discord: https://discord.gg/cs50&#10;Ed: https://cs50.edx.org/ed&#10;Facebook Group: https://www.facebook.com/groups/cs50/&#10;Faceboook Page: https://www.facebook.com/cs50/&#10;GitHub: https://github.com/cs50&#10;Gitter: https://gitter.im/cs50/x&#10;Instagram: https://instagram.com/cs50&#10;LinkedIn Group: https://www.linkedin.com/groups/7437240/&#10;LinkedIn Page: https://www.linkedin.com/school/cs50/&#10;Medium: https://cs50.medium.com/&#10;Quora: https://www.quora.com/topic/CS50&#10;Reddit: https://www.reddit.com/r/cs50/&#10;Slack: https://cs50.edx.org/slack&#10;Snapchat: https://www.snapchat.com/add/cs50&#10;SoundCloud: https://soundcloud.com/cs50&#10;Stack Exchange: https://cs50.stackexchange.com/&#10;Telegram: https://t.me/cs50x&#10;Threads: https://www.threads.net/@cs50&#10;TikTok: https://www.tiktok.com/@cs50&#10;Twitter: https://twitter.com/cs50&#10;Twitter Community: https://twitter.com/i/communities/1722308663522594923&#10;YouTube: http://www.youtube.com/cs50&#10;&#10;HOW TO FOLLOW DAVID J. MALAN&#10;&#10;Facebook: https://www.facebook.com/dmalan&#10;GitHub: https://github.com/dmalan&#10;Instagram: https://www.instagram.com/davidjmalan/&#10;LinkedIn: https://www.linkedin.com/in/malan/&#10;Quora: https://www.quora.com/profile/David-J-Malan&#10;Threads: https://www.threads.net/@davidjmalan&#10;TikTok: https://www.tiktok.com/@davidjmalan&#10;Twitter: https://twitter.com/davidjmalan&#10;&#10;***&#10;&#10;CS50 SHOP&#10;&#10;https://cs50.harvardshop.com/&#10;&#10;***&#10;&#10;LICENSE&#10;&#10;CC BY-NC-SA 4.0&#10;Creative Commons Attribution-NonCommercial-ShareAlike 4.0 International Public License&#10;https://creativecommons.org/licenses/by-nc-sa/4.0/&#10;&#10;David J. Malan&#10;https://cs.harvard.edu/malan&#10;malan@harvard.edu" id="266" name="Google Shape;266;p54" title="CS50x - Lecture 0 - Scratch">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0" name="Shape 270"/>
        <p:cNvGrpSpPr/>
        <p:nvPr/>
      </p:nvGrpSpPr>
      <p:grpSpPr>
        <a:xfrm>
          <a:off x="0" y="0"/>
          <a:ext cx="0" cy="0"/>
          <a:chOff x="0" y="0"/>
          <a:chExt cx="0" cy="0"/>
        </a:xfrm>
      </p:grpSpPr>
      <p:sp>
        <p:nvSpPr>
          <p:cNvPr id="271" name="Google Shape;271;p55"/>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100">
                <a:solidFill>
                  <a:schemeClr val="dk1"/>
                </a:solidFill>
                <a:latin typeface="JetBrains Mono"/>
                <a:ea typeface="JetBrains Mono"/>
                <a:cs typeface="JetBrains Mono"/>
                <a:sym typeface="JetBrains Mono"/>
              </a:rPr>
              <a:t>Ok we are done now!!! You can now take a breath</a:t>
            </a:r>
            <a:endParaRPr sz="4100">
              <a:solidFill>
                <a:schemeClr val="dk1"/>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5" name="Shape 275"/>
        <p:cNvGrpSpPr/>
        <p:nvPr/>
      </p:nvGrpSpPr>
      <p:grpSpPr>
        <a:xfrm>
          <a:off x="0" y="0"/>
          <a:ext cx="0" cy="0"/>
          <a:chOff x="0" y="0"/>
          <a:chExt cx="0" cy="0"/>
        </a:xfrm>
      </p:grpSpPr>
      <p:sp>
        <p:nvSpPr>
          <p:cNvPr id="276" name="Google Shape;276;p56"/>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100">
                <a:solidFill>
                  <a:schemeClr val="dk1"/>
                </a:solidFill>
                <a:latin typeface="JetBrains Mono"/>
                <a:ea typeface="JetBrains Mono"/>
                <a:cs typeface="JetBrains Mono"/>
                <a:sym typeface="JetBrains Mono"/>
              </a:rPr>
              <a:t>Ok i have sad news</a:t>
            </a:r>
            <a:endParaRPr sz="4100">
              <a:solidFill>
                <a:schemeClr val="dk1"/>
              </a:solidFill>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0" name="Shape 280"/>
        <p:cNvGrpSpPr/>
        <p:nvPr/>
      </p:nvGrpSpPr>
      <p:grpSpPr>
        <a:xfrm>
          <a:off x="0" y="0"/>
          <a:ext cx="0" cy="0"/>
          <a:chOff x="0" y="0"/>
          <a:chExt cx="0" cy="0"/>
        </a:xfrm>
      </p:grpSpPr>
      <p:sp>
        <p:nvSpPr>
          <p:cNvPr id="281" name="Google Shape;281;p57"/>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4100">
                <a:solidFill>
                  <a:schemeClr val="dk1"/>
                </a:solidFill>
                <a:latin typeface="JetBrains Mono"/>
                <a:ea typeface="JetBrains Mono"/>
                <a:cs typeface="JetBrains Mono"/>
                <a:sym typeface="JetBrains Mono"/>
              </a:rPr>
              <a:t>You have homework😭</a:t>
            </a:r>
            <a:endParaRPr sz="4100">
              <a:solidFill>
                <a:schemeClr val="dk1"/>
              </a:solidFill>
              <a:latin typeface="JetBrains Mono"/>
              <a:ea typeface="JetBrains Mono"/>
              <a:cs typeface="JetBrains Mono"/>
              <a:sym typeface="JetBrai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5" name="Shape 285"/>
        <p:cNvGrpSpPr/>
        <p:nvPr/>
      </p:nvGrpSpPr>
      <p:grpSpPr>
        <a:xfrm>
          <a:off x="0" y="0"/>
          <a:ext cx="0" cy="0"/>
          <a:chOff x="0" y="0"/>
          <a:chExt cx="0" cy="0"/>
        </a:xfrm>
      </p:grpSpPr>
      <p:sp>
        <p:nvSpPr>
          <p:cNvPr id="286" name="Google Shape;286;p58"/>
          <p:cNvSpPr txBox="1"/>
          <p:nvPr/>
        </p:nvSpPr>
        <p:spPr>
          <a:xfrm>
            <a:off x="192600" y="188175"/>
            <a:ext cx="8746200" cy="483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4100">
                <a:solidFill>
                  <a:schemeClr val="dk1"/>
                </a:solidFill>
                <a:latin typeface="JetBrains Mono"/>
                <a:ea typeface="JetBrains Mono"/>
                <a:cs typeface="JetBrains Mono"/>
                <a:sym typeface="JetBrains Mono"/>
              </a:rPr>
              <a:t>You have to make a scratch game </a:t>
            </a:r>
            <a:endParaRPr sz="4100">
              <a:solidFill>
                <a:schemeClr val="dk1"/>
              </a:solidFill>
              <a:latin typeface="JetBrains Mono"/>
              <a:ea typeface="JetBrains Mono"/>
              <a:cs typeface="JetBrains Mono"/>
              <a:sym typeface="JetBrains Mono"/>
            </a:endParaRPr>
          </a:p>
          <a:p>
            <a:pPr indent="0" lvl="0" marL="0" rtl="0" algn="l">
              <a:lnSpc>
                <a:spcPct val="115000"/>
              </a:lnSpc>
              <a:spcBef>
                <a:spcPts val="1200"/>
              </a:spcBef>
              <a:spcAft>
                <a:spcPts val="1200"/>
              </a:spcAft>
              <a:buNone/>
            </a:pPr>
            <a:r>
              <a:rPr lang="en" sz="2100">
                <a:solidFill>
                  <a:schemeClr val="dk1"/>
                </a:solidFill>
                <a:latin typeface="JetBrains Mono"/>
                <a:ea typeface="JetBrains Mono"/>
                <a:cs typeface="JetBrains Mono"/>
                <a:sym typeface="JetBrains Mono"/>
              </a:rPr>
              <a:t>Rules: you have to use what you learned, it has to be school appropriate, and you have to post it in the link on the canvas page</a:t>
            </a:r>
            <a:endParaRPr sz="2100">
              <a:solidFill>
                <a:schemeClr val="dk1"/>
              </a:solidFill>
              <a:latin typeface="JetBrains Mono"/>
              <a:ea typeface="JetBrains Mono"/>
              <a:cs typeface="JetBrains Mono"/>
              <a:sym typeface="JetBrai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0" name="Shape 290"/>
        <p:cNvGrpSpPr/>
        <p:nvPr/>
      </p:nvGrpSpPr>
      <p:grpSpPr>
        <a:xfrm>
          <a:off x="0" y="0"/>
          <a:ext cx="0" cy="0"/>
          <a:chOff x="0" y="0"/>
          <a:chExt cx="0" cy="0"/>
        </a:xfrm>
      </p:grpSpPr>
      <p:sp>
        <p:nvSpPr>
          <p:cNvPr id="291" name="Google Shape;291;p59"/>
          <p:cNvSpPr txBox="1"/>
          <p:nvPr/>
        </p:nvSpPr>
        <p:spPr>
          <a:xfrm>
            <a:off x="192600" y="188175"/>
            <a:ext cx="8746200" cy="4830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4100">
                <a:solidFill>
                  <a:schemeClr val="dk1"/>
                </a:solidFill>
                <a:latin typeface="JetBrains Mono"/>
                <a:ea typeface="JetBrains Mono"/>
                <a:cs typeface="JetBrains Mono"/>
                <a:sym typeface="JetBrains Mono"/>
              </a:rPr>
              <a:t>Well that is all i have thank you for paying attention and have a good day</a:t>
            </a:r>
            <a:endParaRPr sz="4100">
              <a:solidFill>
                <a:schemeClr val="dk1"/>
              </a:solidFill>
              <a:latin typeface="JetBrains Mono"/>
              <a:ea typeface="JetBrains Mono"/>
              <a:cs typeface="JetBrains Mono"/>
              <a:sym typeface="JetBrains Mono"/>
            </a:endParaRPr>
          </a:p>
          <a:p>
            <a:pPr indent="0" lvl="0" marL="0" rtl="0" algn="ctr">
              <a:lnSpc>
                <a:spcPct val="115000"/>
              </a:lnSpc>
              <a:spcBef>
                <a:spcPts val="1200"/>
              </a:spcBef>
              <a:spcAft>
                <a:spcPts val="1200"/>
              </a:spcAft>
              <a:buNone/>
            </a:pPr>
            <a:r>
              <a:t/>
            </a:r>
            <a:endParaRPr sz="2100">
              <a:solidFill>
                <a:schemeClr val="dk1"/>
              </a:solidFill>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